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4.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5.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2772dd3b-67f3-48e7-3122-d7f0e68cb05a}">
          <p14:sldIdLst>
            <p14:sldId id="256"/>
            <p14:sldId id="257"/>
            <p14:sldId id="258"/>
            <p14:sldId id="259"/>
          </p14:sldIdLst>
        </p14:section>
        <p14:section name="Task 1 – Discounts" id="{d84e4489-0341-dd81-6f71-dd9a97802af3}">
          <p14:sldIdLst>
            <p14:sldId id="260"/>
            <p14:sldId id="261"/>
            <p14:sldId id="262"/>
          </p14:sldIdLst>
        </p14:section>
        <p14:section name="Task 2 – Card spending" id="{ac20c498-f0e7-2003-8d0f-f87c90de27ac}">
          <p14:sldIdLst>
            <p14:sldId id="263"/>
            <p14:sldId id="264"/>
            <p14:sldId id="265"/>
            <p14:sldId id="266"/>
          </p14:sldIdLst>
        </p14:section>
        <p14:section name="Task 3 – Segmentation" id="{3b312630-fbf4-a44a-a964-8fb135a1c3fb}">
          <p14:sldIdLst>
            <p14:sldId id="267"/>
            <p14:sldId id="268"/>
            <p14:sldId id="269"/>
            <p14:sldId id="270"/>
            <p14:sldId id="271"/>
            <p14:sldId id="272"/>
          </p14:sldIdLst>
        </p14:section>
        <p14:section name="Conclusion" id="{a1332b7a-c4db-d470-7ead-a4bedf1849f5}">
          <p14:sldIdLst>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C1C1A"/>
                </a:solidFill>
                <a:latin typeface="+mn-lt"/>
              </a:defRPr>
            </a:pPr>
            <a:r>
              <a:rPr sz="1300" b="0" i="0" u="none" strike="noStrike">
                <a:solidFill>
                  <a:srgbClr val="1C1C1A"/>
                </a:solidFill>
                <a:latin typeface="+mn-lt"/>
              </a:rPr>
              <a:t>Average order value ($)</a:t>
            </a:r>
          </a:p>
        </c:rich>
      </c:tx>
      <c:layout/>
      <c:overlay val="0"/>
    </c:title>
    <c:autoTitleDeleted val="0"/>
    <c:plotArea>
      <c:layout/>
      <c:barChart>
        <c:barDir val="col"/>
        <c:grouping val="clustered"/>
        <c:varyColors val="0"/>
        <c:ser>
          <c:idx val="0"/>
          <c:order val="0"/>
          <c:tx>
            <c:strRef>
              <c:f>Sheet1!$B$1</c:f>
              <c:strCache>
                <c:ptCount val="1"/>
                <c:pt idx="0">
                  <c:v>No discount</c:v>
                </c:pt>
              </c:strCache>
            </c:strRef>
          </c:tx>
          <c:spPr>
            <a:solidFill>
              <a:srgbClr val="2A78D6"/>
            </a:solidFill>
            <a:effectLst/>
          </c:spPr>
          <c:invertIfNegative val="0"/>
          <c:dLbls>
            <c:numFmt formatCode="$0" sourceLinked="0"/>
            <c:txPr>
              <a:bodyPr/>
              <a:lstStyle/>
              <a:p>
                <a:pPr>
                  <a:defRPr b="0" i="0" strike="noStrike" sz="1000" u="none">
                    <a:solidFill>
                      <a:srgbClr val="52514E"/>
                    </a:solidFill>
                    <a:latin typeface="+mn-lt"/>
                  </a:defRPr>
                </a:pPr>
              </a:p>
            </c:txPr>
            <c:showLegendKey val="0"/>
            <c:showVal val="1"/>
            <c:showCatName val="0"/>
            <c:showSerName val="0"/>
            <c:showPercent val="0"/>
            <c:showBubbleSize val="0"/>
            <c:showLeaderLines val="0"/>
          </c:dLbls>
          <c:cat>
            <c:multiLvlStrRef>
              <c:f>Sheet1!$A$2:$A$6</c:f>
              <c:multiLvlStrCache>
                <c:ptCount val="5"/>
                <c:lvl>
                  <c:pt idx="0">
                    <c:v>Clothing</c:v>
                  </c:pt>
                  <c:pt idx="1">
                    <c:v>Accessories</c:v>
                  </c:pt>
                  <c:pt idx="2">
                    <c:v>Home Decor</c:v>
                  </c:pt>
                  <c:pt idx="3">
                    <c:v>Electronics</c:v>
                  </c:pt>
                  <c:pt idx="4">
                    <c:v>Sports</c:v>
                  </c:pt>
                </c:lvl>
              </c:multiLvlStrCache>
            </c:multiLvlStrRef>
          </c:cat>
          <c:val>
            <c:numRef>
              <c:f>Sheet1!$B$2:$B$6</c:f>
              <c:numCache>
                <c:formatCode>General</c:formatCode>
                <c:ptCount val="5"/>
                <c:pt idx="0">
                  <c:v>254.42</c:v>
                </c:pt>
                <c:pt idx="1">
                  <c:v>255.48</c:v>
                </c:pt>
                <c:pt idx="2">
                  <c:v>265.29</c:v>
                </c:pt>
                <c:pt idx="3">
                  <c:v>252.43</c:v>
                </c:pt>
                <c:pt idx="4">
                  <c:v>252.05</c:v>
                </c:pt>
              </c:numCache>
            </c:numRef>
          </c:val>
        </c:ser>
        <c:ser>
          <c:idx val="1"/>
          <c:order val="1"/>
          <c:tx>
            <c:strRef>
              <c:f>Sheet1!$C$1</c:f>
              <c:strCache>
                <c:ptCount val="1"/>
                <c:pt idx="0">
                  <c:v>With discount</c:v>
                </c:pt>
              </c:strCache>
            </c:strRef>
          </c:tx>
          <c:spPr>
            <a:solidFill>
              <a:srgbClr val="EB6834"/>
            </a:solidFill>
            <a:effectLst/>
          </c:spPr>
          <c:invertIfNegative val="0"/>
          <c:dLbls>
            <c:numFmt formatCode="$0" sourceLinked="0"/>
            <c:txPr>
              <a:bodyPr/>
              <a:lstStyle/>
              <a:p>
                <a:pPr>
                  <a:defRPr b="0" i="0" strike="noStrike" sz="1000" u="none">
                    <a:solidFill>
                      <a:srgbClr val="52514E"/>
                    </a:solidFill>
                    <a:latin typeface="+mn-lt"/>
                  </a:defRPr>
                </a:pPr>
              </a:p>
            </c:txPr>
            <c:showLegendKey val="0"/>
            <c:showVal val="1"/>
            <c:showCatName val="0"/>
            <c:showSerName val="0"/>
            <c:showPercent val="0"/>
            <c:showBubbleSize val="0"/>
            <c:showLeaderLines val="0"/>
          </c:dLbls>
          <c:cat>
            <c:multiLvlStrRef>
              <c:f>Sheet1!$A$2:$A$6</c:f>
              <c:multiLvlStrCache>
                <c:ptCount val="5"/>
                <c:lvl>
                  <c:pt idx="0">
                    <c:v>Clothing</c:v>
                  </c:pt>
                  <c:pt idx="1">
                    <c:v>Accessories</c:v>
                  </c:pt>
                  <c:pt idx="2">
                    <c:v>Home Decor</c:v>
                  </c:pt>
                  <c:pt idx="3">
                    <c:v>Electronics</c:v>
                  </c:pt>
                  <c:pt idx="4">
                    <c:v>Sports</c:v>
                  </c:pt>
                </c:lvl>
              </c:multiLvlStrCache>
            </c:multiLvlStrRef>
          </c:cat>
          <c:val>
            <c:numRef>
              <c:f>Sheet1!$C$2:$C$6</c:f>
              <c:numCache>
                <c:formatCode>General</c:formatCode>
                <c:ptCount val="5"/>
                <c:pt idx="0">
                  <c:v>270.98</c:v>
                </c:pt>
                <c:pt idx="1">
                  <c:v>252.05</c:v>
                </c:pt>
                <c:pt idx="2">
                  <c:v>253.1</c:v>
                </c:pt>
                <c:pt idx="3">
                  <c:v>249.13</c:v>
                </c:pt>
                <c:pt idx="4">
                  <c:v>250.16</c:v>
                </c:pt>
              </c:numCache>
            </c:numRef>
          </c:val>
        </c:ser>
        <c:dLbls>
          <c:numFmt formatCode="$0" sourceLinked="0"/>
          <c:txPr>
            <a:bodyPr/>
            <a:lstStyle/>
            <a:p>
              <a:pPr>
                <a:defRPr b="0" i="0" strike="noStrike" sz="1000" u="none">
                  <a:solidFill>
                    <a:srgbClr val="52514E"/>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52514E"/>
                </a:solidFill>
                <a:latin typeface="+mn-lt"/>
              </a:defRPr>
            </a:pPr>
            <a:endParaRPr lang="en-US"/>
          </a:p>
        </c:txPr>
        <c:crossAx val="2094734552"/>
        <c:crosses val="autoZero"/>
        <c:auto val="1"/>
        <c:lblAlgn val="ctr"/>
        <c:noMultiLvlLbl val="1"/>
      </c:catAx>
      <c:valAx>
        <c:axId val="2094734552"/>
        <c:scaling>
          <c:orientation val="minMax"/>
          <c:max val="285"/>
          <c:min val="200"/>
        </c:scaling>
        <c:delete val="0"/>
        <c:axPos val="l"/>
        <c:majorGridlines>
          <c:spPr>
            <a:ln w="6350" cap="flat">
              <a:solidFill>
                <a:srgbClr val="E1E0D9"/>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898781"/>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000">
              <a:solidFill>
                <a:srgbClr val="52514E"/>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C1C1A"/>
                </a:solidFill>
                <a:latin typeface="+mn-lt"/>
              </a:defRPr>
            </a:pPr>
            <a:r>
              <a:rPr sz="1300" b="0" i="0" u="none" strike="noStrike">
                <a:solidFill>
                  <a:srgbClr val="1C1C1A"/>
                </a:solidFill>
                <a:latin typeface="+mn-lt"/>
              </a:rPr>
              <a:t>Discount priority score</a:t>
            </a:r>
          </a:p>
        </c:rich>
      </c:tx>
      <c:layout/>
      <c:overlay val="0"/>
    </c:title>
    <c:autoTitleDeleted val="0"/>
    <c:plotArea>
      <c:layout/>
      <c:barChart>
        <c:barDir val="bar"/>
        <c:grouping val="clustered"/>
        <c:varyColors val="0"/>
        <c:ser>
          <c:idx val="0"/>
          <c:order val="0"/>
          <c:tx>
            <c:strRef>
              <c:f>Sheet1!$B$1</c:f>
              <c:strCache>
                <c:ptCount val="1"/>
                <c:pt idx="0">
                  <c:v>Priority score</c:v>
                </c:pt>
              </c:strCache>
            </c:strRef>
          </c:tx>
          <c:spPr>
            <a:solidFill>
              <a:srgbClr val="EB6834"/>
            </a:solidFill>
            <a:effectLst/>
          </c:spPr>
          <c:invertIfNegative val="0"/>
          <c:dLbls>
            <c:numFmt formatCode="0.00" sourceLinked="0"/>
            <c:txPr>
              <a:bodyPr/>
              <a:lstStyle/>
              <a:p>
                <a:pPr>
                  <a:defRPr b="0" i="0" strike="noStrike" sz="1000" u="none">
                    <a:solidFill>
                      <a:srgbClr val="52514E"/>
                    </a:solidFill>
                    <a:latin typeface="+mn-lt"/>
                  </a:defRPr>
                </a:pPr>
              </a:p>
            </c:txPr>
            <c:showLegendKey val="0"/>
            <c:showVal val="1"/>
            <c:showCatName val="0"/>
            <c:showSerName val="0"/>
            <c:showPercent val="0"/>
            <c:showBubbleSize val="0"/>
            <c:showLeaderLines val="0"/>
          </c:dLbls>
          <c:dPt>
            <c:idx val="0"/>
            <c:invertIfNegative val="0"/>
            <c:bubble3D val="0"/>
            <c:spPr>
              <a:solidFill>
                <a:srgbClr val="EB6834"/>
              </a:solidFill>
              <a:effectLst/>
            </c:spPr>
          </c:dPt>
          <c:dPt>
            <c:idx val="1"/>
            <c:invertIfNegative val="0"/>
            <c:bubble3D val="0"/>
            <c:spPr>
              <a:solidFill>
                <a:srgbClr val="EB6834"/>
              </a:solidFill>
              <a:effectLst/>
            </c:spPr>
          </c:dPt>
          <c:dPt>
            <c:idx val="2"/>
            <c:invertIfNegative val="0"/>
            <c:bubble3D val="0"/>
            <c:spPr>
              <a:solidFill>
                <a:srgbClr val="2A78D6"/>
              </a:solidFill>
              <a:effectLst/>
            </c:spPr>
          </c:dPt>
          <c:dPt>
            <c:idx val="3"/>
            <c:invertIfNegative val="0"/>
            <c:bubble3D val="0"/>
            <c:spPr>
              <a:solidFill>
                <a:srgbClr val="C3C2B7"/>
              </a:solidFill>
              <a:effectLst/>
            </c:spPr>
          </c:dPt>
          <c:dPt>
            <c:idx val="4"/>
            <c:invertIfNegative val="0"/>
            <c:bubble3D val="0"/>
            <c:spPr>
              <a:solidFill>
                <a:srgbClr val="C3C2B7"/>
              </a:solidFill>
              <a:effectLst/>
            </c:spPr>
          </c:dPt>
          <c:cat>
            <c:multiLvlStrRef>
              <c:f>Sheet1!$A$2:$A$6</c:f>
              <c:multiLvlStrCache>
                <c:ptCount val="5"/>
                <c:lvl>
                  <c:pt idx="0">
                    <c:v>Sports</c:v>
                  </c:pt>
                  <c:pt idx="1">
                    <c:v>Clothing</c:v>
                  </c:pt>
                  <c:pt idx="2">
                    <c:v>Electronics</c:v>
                  </c:pt>
                  <c:pt idx="3">
                    <c:v>Home Decor</c:v>
                  </c:pt>
                  <c:pt idx="4">
                    <c:v>Accessories</c:v>
                  </c:pt>
                </c:lvl>
              </c:multiLvlStrCache>
            </c:multiLvlStrRef>
          </c:cat>
          <c:val>
            <c:numRef>
              <c:f>Sheet1!$B$2:$B$6</c:f>
              <c:numCache>
                <c:formatCode>General</c:formatCode>
                <c:ptCount val="5"/>
                <c:pt idx="0">
                  <c:v>0.6</c:v>
                </c:pt>
                <c:pt idx="1">
                  <c:v>0.5</c:v>
                </c:pt>
                <c:pt idx="2">
                  <c:v>0.45</c:v>
                </c:pt>
                <c:pt idx="3">
                  <c:v>0.35</c:v>
                </c:pt>
                <c:pt idx="4">
                  <c:v>0.35</c:v>
                </c:pt>
              </c:numCache>
            </c:numRef>
          </c:val>
        </c:ser>
        <c:dLbls>
          <c:numFmt formatCode="0.00" sourceLinked="0"/>
          <c:txPr>
            <a:bodyPr/>
            <a:lstStyle/>
            <a:p>
              <a:pPr>
                <a:defRPr b="0" i="0" strike="noStrike" sz="1000" u="none">
                  <a:solidFill>
                    <a:srgbClr val="52514E"/>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52514E"/>
                </a:solidFill>
                <a:latin typeface="+mn-lt"/>
              </a:defRPr>
            </a:pPr>
            <a:endParaRPr lang="en-US"/>
          </a:p>
        </c:txPr>
        <c:crossAx val="2094734552"/>
        <c:crosses val="autoZero"/>
        <c:auto val="1"/>
        <c:lblAlgn val="ctr"/>
        <c:noMultiLvlLbl val="1"/>
      </c:catAx>
      <c:valAx>
        <c:axId val="2094734552"/>
        <c:scaling>
          <c:orientation val="minMax"/>
          <c:max val="0.7"/>
          <c:min val="0"/>
        </c:scaling>
        <c:delete val="1"/>
        <c:axPos val="b"/>
        <c:numFmt formatCode="General" sourceLinked="0"/>
        <c:majorTickMark val="out"/>
        <c:minorTickMark val="none"/>
        <c:tickLblPos val="low"/>
        <c:spPr>
          <a:ln w="12700" cap="flat">
            <a:noFill/>
            <a:prstDash val="solid"/>
            <a:round/>
          </a:ln>
        </c:spPr>
        <c:txPr>
          <a:bodyPr/>
          <a:lstStyle/>
          <a:p>
            <a:pPr>
              <a:defRPr sz="1000" b="0" i="0" u="none" strike="noStrike">
                <a:solidFill>
                  <a:srgbClr val="898781"/>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C1C1A"/>
                </a:solidFill>
                <a:latin typeface="+mn-lt"/>
              </a:defRPr>
            </a:pPr>
            <a:r>
              <a:rPr sz="1300" b="0" i="0" u="none" strike="noStrike">
                <a:solidFill>
                  <a:srgbClr val="1C1C1A"/>
                </a:solidFill>
                <a:latin typeface="+mn-lt"/>
              </a:rPr>
              <a:t>Card spend by age group ($ thousands)</a:t>
            </a:r>
          </a:p>
        </c:rich>
      </c:tx>
      <c:layout/>
      <c:overlay val="0"/>
    </c:title>
    <c:autoTitleDeleted val="0"/>
    <c:plotArea>
      <c:layout/>
      <c:barChart>
        <c:barDir val="col"/>
        <c:grouping val="clustered"/>
        <c:varyColors val="0"/>
        <c:ser>
          <c:idx val="0"/>
          <c:order val="0"/>
          <c:tx>
            <c:strRef>
              <c:f>Sheet1!$B$1</c:f>
              <c:strCache>
                <c:ptCount val="1"/>
                <c:pt idx="0">
                  <c:v>Credit card</c:v>
                </c:pt>
              </c:strCache>
            </c:strRef>
          </c:tx>
          <c:spPr>
            <a:solidFill>
              <a:srgbClr val="2A78D6"/>
            </a:solidFill>
            <a:effectLst/>
          </c:spPr>
          <c:invertIfNegative val="0"/>
          <c:dLbls>
            <c:numFmt formatCode="0.0" sourceLinked="0"/>
            <c:txPr>
              <a:bodyPr/>
              <a:lstStyle/>
              <a:p>
                <a:pPr>
                  <a:defRPr b="0" i="0" strike="noStrike" sz="1000" u="none">
                    <a:solidFill>
                      <a:srgbClr val="52514E"/>
                    </a:solidFill>
                    <a:latin typeface="+mn-lt"/>
                  </a:defRPr>
                </a:pPr>
              </a:p>
            </c:txPr>
            <c:showLegendKey val="0"/>
            <c:showVal val="1"/>
            <c:showCatName val="0"/>
            <c:showSerName val="0"/>
            <c:showPercent val="0"/>
            <c:showBubbleSize val="0"/>
            <c:showLeaderLines val="0"/>
          </c:dLbls>
          <c:cat>
            <c:multiLvlStrRef>
              <c:f>Sheet1!$A$2:$A$6</c:f>
              <c:multiLvlStrCache>
                <c:ptCount val="5"/>
                <c:lvl>
                  <c:pt idx="0">
                    <c:v>18–25</c:v>
                  </c:pt>
                  <c:pt idx="1">
                    <c:v>26–35</c:v>
                  </c:pt>
                  <c:pt idx="2">
                    <c:v>36–45</c:v>
                  </c:pt>
                  <c:pt idx="3">
                    <c:v>46–55</c:v>
                  </c:pt>
                  <c:pt idx="4">
                    <c:v>56–65</c:v>
                  </c:pt>
                </c:lvl>
              </c:multiLvlStrCache>
            </c:multiLvlStrRef>
          </c:cat>
          <c:val>
            <c:numRef>
              <c:f>Sheet1!$B$2:$B$6</c:f>
              <c:numCache>
                <c:formatCode>General</c:formatCode>
                <c:ptCount val="5"/>
                <c:pt idx="0">
                  <c:v>37.2</c:v>
                </c:pt>
                <c:pt idx="1">
                  <c:v>41.6</c:v>
                </c:pt>
                <c:pt idx="2">
                  <c:v>45.7</c:v>
                </c:pt>
                <c:pt idx="3">
                  <c:v>45</c:v>
                </c:pt>
                <c:pt idx="4">
                  <c:v>40.1</c:v>
                </c:pt>
              </c:numCache>
            </c:numRef>
          </c:val>
        </c:ser>
        <c:ser>
          <c:idx val="1"/>
          <c:order val="1"/>
          <c:tx>
            <c:strRef>
              <c:f>Sheet1!$C$1</c:f>
              <c:strCache>
                <c:ptCount val="1"/>
                <c:pt idx="0">
                  <c:v>Debit card</c:v>
                </c:pt>
              </c:strCache>
            </c:strRef>
          </c:tx>
          <c:spPr>
            <a:solidFill>
              <a:srgbClr val="EB6834"/>
            </a:solidFill>
            <a:effectLst/>
          </c:spPr>
          <c:invertIfNegative val="0"/>
          <c:dLbls>
            <c:numFmt formatCode="0.0" sourceLinked="0"/>
            <c:txPr>
              <a:bodyPr/>
              <a:lstStyle/>
              <a:p>
                <a:pPr>
                  <a:defRPr b="0" i="0" strike="noStrike" sz="1000" u="none">
                    <a:solidFill>
                      <a:srgbClr val="52514E"/>
                    </a:solidFill>
                    <a:latin typeface="+mn-lt"/>
                  </a:defRPr>
                </a:pPr>
              </a:p>
            </c:txPr>
            <c:showLegendKey val="0"/>
            <c:showVal val="1"/>
            <c:showCatName val="0"/>
            <c:showSerName val="0"/>
            <c:showPercent val="0"/>
            <c:showBubbleSize val="0"/>
            <c:showLeaderLines val="0"/>
          </c:dLbls>
          <c:cat>
            <c:multiLvlStrRef>
              <c:f>Sheet1!$A$2:$A$6</c:f>
              <c:multiLvlStrCache>
                <c:ptCount val="5"/>
                <c:lvl>
                  <c:pt idx="0">
                    <c:v>18–25</c:v>
                  </c:pt>
                  <c:pt idx="1">
                    <c:v>26–35</c:v>
                  </c:pt>
                  <c:pt idx="2">
                    <c:v>36–45</c:v>
                  </c:pt>
                  <c:pt idx="3">
                    <c:v>46–55</c:v>
                  </c:pt>
                  <c:pt idx="4">
                    <c:v>56–65</c:v>
                  </c:pt>
                </c:lvl>
              </c:multiLvlStrCache>
            </c:multiLvlStrRef>
          </c:cat>
          <c:val>
            <c:numRef>
              <c:f>Sheet1!$C$2:$C$6</c:f>
              <c:numCache>
                <c:formatCode>General</c:formatCode>
                <c:ptCount val="5"/>
                <c:pt idx="0">
                  <c:v>33.2</c:v>
                </c:pt>
                <c:pt idx="1">
                  <c:v>40.2</c:v>
                </c:pt>
                <c:pt idx="2">
                  <c:v>42.8</c:v>
                </c:pt>
                <c:pt idx="3">
                  <c:v>39.9</c:v>
                </c:pt>
                <c:pt idx="4">
                  <c:v>40.1</c:v>
                </c:pt>
              </c:numCache>
            </c:numRef>
          </c:val>
        </c:ser>
        <c:dLbls>
          <c:numFmt formatCode="0.0" sourceLinked="0"/>
          <c:txPr>
            <a:bodyPr/>
            <a:lstStyle/>
            <a:p>
              <a:pPr>
                <a:defRPr b="0" i="0" strike="noStrike" sz="1000" u="none">
                  <a:solidFill>
                    <a:srgbClr val="52514E"/>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52514E"/>
                </a:solidFill>
                <a:latin typeface="+mn-lt"/>
              </a:defRPr>
            </a:pPr>
            <a:endParaRPr lang="en-US"/>
          </a:p>
        </c:txPr>
        <c:crossAx val="2094734552"/>
        <c:crosses val="autoZero"/>
        <c:auto val="1"/>
        <c:lblAlgn val="ctr"/>
        <c:noMultiLvlLbl val="1"/>
      </c:catAx>
      <c:valAx>
        <c:axId val="2094734552"/>
        <c:scaling>
          <c:orientation val="minMax"/>
          <c:max val="55"/>
          <c:min val="0"/>
        </c:scaling>
        <c:delete val="0"/>
        <c:axPos val="l"/>
        <c:majorGridlines>
          <c:spPr>
            <a:ln w="6350" cap="flat">
              <a:solidFill>
                <a:srgbClr val="E1E0D9"/>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898781"/>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000">
              <a:solidFill>
                <a:srgbClr val="52514E"/>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C1C1A"/>
                </a:solidFill>
                <a:latin typeface="+mn-lt"/>
              </a:defRPr>
            </a:pPr>
            <a:r>
              <a:rPr sz="1300" b="0" i="0" u="none" strike="noStrike">
                <a:solidFill>
                  <a:srgbClr val="1C1C1A"/>
                </a:solidFill>
                <a:latin typeface="+mn-lt"/>
              </a:rPr>
              <a:t>Card spend by city ($ thousands)</a:t>
            </a:r>
          </a:p>
        </c:rich>
      </c:tx>
      <c:layout/>
      <c:overlay val="0"/>
    </c:title>
    <c:autoTitleDeleted val="0"/>
    <c:plotArea>
      <c:layout/>
      <c:barChart>
        <c:barDir val="bar"/>
        <c:grouping val="clustered"/>
        <c:varyColors val="0"/>
        <c:ser>
          <c:idx val="0"/>
          <c:order val="0"/>
          <c:tx>
            <c:strRef>
              <c:f>Sheet1!$B$1</c:f>
              <c:strCache>
                <c:ptCount val="1"/>
                <c:pt idx="0">
                  <c:v>Card spend</c:v>
                </c:pt>
              </c:strCache>
            </c:strRef>
          </c:tx>
          <c:spPr>
            <a:solidFill>
              <a:srgbClr val="2A78D6"/>
            </a:solidFill>
            <a:effectLst/>
          </c:spPr>
          <c:invertIfNegative val="0"/>
          <c:dLbls>
            <c:numFmt formatCode="$0.0&quot;K&quot;" sourceLinked="0"/>
            <c:txPr>
              <a:bodyPr/>
              <a:lstStyle/>
              <a:p>
                <a:pPr>
                  <a:defRPr b="0" i="0" strike="noStrike" sz="1000" u="none">
                    <a:solidFill>
                      <a:srgbClr val="52514E"/>
                    </a:solidFill>
                    <a:latin typeface="+mn-lt"/>
                  </a:defRPr>
                </a:pPr>
              </a:p>
            </c:txPr>
            <c:showLegendKey val="0"/>
            <c:showVal val="1"/>
            <c:showCatName val="0"/>
            <c:showSerName val="0"/>
            <c:showPercent val="0"/>
            <c:showBubbleSize val="0"/>
            <c:showLeaderLines val="0"/>
          </c:dLbls>
          <c:cat>
            <c:multiLvlStrRef>
              <c:f>Sheet1!$A$2:$A$6</c:f>
              <c:multiLvlStrCache>
                <c:ptCount val="5"/>
                <c:lvl>
                  <c:pt idx="0">
                    <c:v>New York</c:v>
                  </c:pt>
                  <c:pt idx="1">
                    <c:v>Los Angeles</c:v>
                  </c:pt>
                  <c:pt idx="2">
                    <c:v>Chicago</c:v>
                  </c:pt>
                  <c:pt idx="3">
                    <c:v>Houston</c:v>
                  </c:pt>
                  <c:pt idx="4">
                    <c:v>Miami</c:v>
                  </c:pt>
                </c:lvl>
              </c:multiLvlStrCache>
            </c:multiLvlStrRef>
          </c:cat>
          <c:val>
            <c:numRef>
              <c:f>Sheet1!$B$2:$B$6</c:f>
              <c:numCache>
                <c:formatCode>General</c:formatCode>
                <c:ptCount val="5"/>
                <c:pt idx="0">
                  <c:v>90.7</c:v>
                </c:pt>
                <c:pt idx="1">
                  <c:v>83.3</c:v>
                </c:pt>
                <c:pt idx="2">
                  <c:v>81.7</c:v>
                </c:pt>
                <c:pt idx="3">
                  <c:v>78.6</c:v>
                </c:pt>
                <c:pt idx="4">
                  <c:v>71.5</c:v>
                </c:pt>
              </c:numCache>
            </c:numRef>
          </c:val>
        </c:ser>
        <c:dLbls>
          <c:numFmt formatCode="$0.0&quot;K&quot;" sourceLinked="0"/>
          <c:txPr>
            <a:bodyPr/>
            <a:lstStyle/>
            <a:p>
              <a:pPr>
                <a:defRPr b="0" i="0" strike="noStrike" sz="1000" u="none">
                  <a:solidFill>
                    <a:srgbClr val="52514E"/>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52514E"/>
                </a:solidFill>
                <a:latin typeface="+mn-lt"/>
              </a:defRPr>
            </a:pPr>
            <a:endParaRPr lang="en-US"/>
          </a:p>
        </c:txPr>
        <c:crossAx val="2094734552"/>
        <c:crosses val="autoZero"/>
        <c:auto val="1"/>
        <c:lblAlgn val="ctr"/>
        <c:noMultiLvlLbl val="1"/>
      </c:catAx>
      <c:valAx>
        <c:axId val="2094734552"/>
        <c:scaling>
          <c:orientation val="minMax"/>
          <c:max val="105"/>
          <c:min val="0"/>
        </c:scaling>
        <c:delete val="1"/>
        <c:axPos val="b"/>
        <c:numFmt formatCode="General" sourceLinked="0"/>
        <c:majorTickMark val="out"/>
        <c:minorTickMark val="none"/>
        <c:tickLblPos val="low"/>
        <c:spPr>
          <a:ln w="12700" cap="flat">
            <a:noFill/>
            <a:prstDash val="solid"/>
            <a:round/>
          </a:ln>
        </c:spPr>
        <c:txPr>
          <a:bodyPr/>
          <a:lstStyle/>
          <a:p>
            <a:pPr>
              <a:defRPr sz="1000" b="0" i="0" u="none" strike="noStrike">
                <a:solidFill>
                  <a:srgbClr val="898781"/>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C1C1A"/>
                </a:solidFill>
                <a:latin typeface="+mn-lt"/>
              </a:defRPr>
            </a:pPr>
            <a:r>
              <a:rPr sz="1300" b="0" i="0" u="none" strike="noStrike">
                <a:solidFill>
                  <a:srgbClr val="1C1C1A"/>
                </a:solidFill>
                <a:latin typeface="+mn-lt"/>
              </a:rPr>
              <a:t>Share of revenue (%)</a:t>
            </a:r>
          </a:p>
        </c:rich>
      </c:tx>
      <c:layout/>
      <c:overlay val="0"/>
    </c:title>
    <c:autoTitleDeleted val="0"/>
    <c:plotArea>
      <c:layout/>
      <c:barChart>
        <c:barDir val="bar"/>
        <c:grouping val="clustered"/>
        <c:varyColors val="0"/>
        <c:ser>
          <c:idx val="0"/>
          <c:order val="0"/>
          <c:tx>
            <c:strRef>
              <c:f>Sheet1!$B$1</c:f>
              <c:strCache>
                <c:ptCount val="1"/>
                <c:pt idx="0">
                  <c:v>Revenue share</c:v>
                </c:pt>
              </c:strCache>
            </c:strRef>
          </c:tx>
          <c:spPr>
            <a:solidFill>
              <a:srgbClr val="2A78D6"/>
            </a:solidFill>
            <a:effectLst/>
          </c:spPr>
          <c:invertIfNegative val="0"/>
          <c:dLbls>
            <c:numFmt formatCode="0&quot;%&quot;" sourceLinked="0"/>
            <c:txPr>
              <a:bodyPr/>
              <a:lstStyle/>
              <a:p>
                <a:pPr>
                  <a:defRPr b="0" i="0" strike="noStrike" sz="1000" u="none">
                    <a:solidFill>
                      <a:srgbClr val="52514E"/>
                    </a:solidFill>
                    <a:latin typeface="+mn-lt"/>
                  </a:defRPr>
                </a:pPr>
              </a:p>
            </c:txPr>
            <c:showLegendKey val="0"/>
            <c:showVal val="1"/>
            <c:showCatName val="0"/>
            <c:showSerName val="0"/>
            <c:showPercent val="0"/>
            <c:showBubbleSize val="0"/>
            <c:showLeaderLines val="0"/>
          </c:dLbls>
          <c:dPt>
            <c:idx val="0"/>
            <c:invertIfNegative val="0"/>
            <c:bubble3D val="0"/>
            <c:spPr>
              <a:solidFill>
                <a:srgbClr val="2A78D6"/>
              </a:solidFill>
              <a:effectLst/>
            </c:spPr>
          </c:dPt>
          <c:dPt>
            <c:idx val="1"/>
            <c:invertIfNegative val="0"/>
            <c:bubble3D val="0"/>
            <c:spPr>
              <a:solidFill>
                <a:srgbClr val="EB6834"/>
              </a:solidFill>
              <a:effectLst/>
            </c:spPr>
          </c:dPt>
          <c:dPt>
            <c:idx val="2"/>
            <c:invertIfNegative val="0"/>
            <c:bubble3D val="0"/>
            <c:spPr>
              <a:solidFill>
                <a:srgbClr val="1BAF7A"/>
              </a:solidFill>
              <a:effectLst/>
            </c:spPr>
          </c:dPt>
          <c:dPt>
            <c:idx val="3"/>
            <c:invertIfNegative val="0"/>
            <c:bubble3D val="0"/>
            <c:spPr>
              <a:solidFill>
                <a:srgbClr val="EDA100"/>
              </a:solidFill>
              <a:effectLst/>
            </c:spPr>
          </c:dPt>
          <c:cat>
            <c:multiLvlStrRef>
              <c:f>Sheet1!$A$2:$A$5</c:f>
              <c:multiLvlStrCache>
                <c:ptCount val="4"/>
                <c:lvl>
                  <c:pt idx="0">
                    <c:v>Frequent Regulars</c:v>
                  </c:pt>
                  <c:pt idx="1">
                    <c:v>Big Spenders at Risk</c:v>
                  </c:pt>
                  <c:pt idx="2">
                    <c:v>Happy Occasionals</c:v>
                  </c:pt>
                  <c:pt idx="3">
                    <c:v>Unhappy Bargain Buyers</c:v>
                  </c:pt>
                </c:lvl>
              </c:multiLvlStrCache>
            </c:multiLvlStrRef>
          </c:cat>
          <c:val>
            <c:numRef>
              <c:f>Sheet1!$B$2:$B$5</c:f>
              <c:numCache>
                <c:formatCode>General</c:formatCode>
                <c:ptCount val="4"/>
                <c:pt idx="0">
                  <c:v>34</c:v>
                </c:pt>
                <c:pt idx="1">
                  <c:v>33</c:v>
                </c:pt>
                <c:pt idx="2">
                  <c:v>22</c:v>
                </c:pt>
                <c:pt idx="3">
                  <c:v>11</c:v>
                </c:pt>
              </c:numCache>
            </c:numRef>
          </c:val>
        </c:ser>
        <c:dLbls>
          <c:numFmt formatCode="0&quot;%&quot;" sourceLinked="0"/>
          <c:txPr>
            <a:bodyPr/>
            <a:lstStyle/>
            <a:p>
              <a:pPr>
                <a:defRPr b="0" i="0" strike="noStrike" sz="1000" u="none">
                  <a:solidFill>
                    <a:srgbClr val="52514E"/>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52514E"/>
                </a:solidFill>
                <a:latin typeface="+mn-lt"/>
              </a:defRPr>
            </a:pPr>
            <a:endParaRPr lang="en-US"/>
          </a:p>
        </c:txPr>
        <c:crossAx val="2094734552"/>
        <c:crosses val="autoZero"/>
        <c:auto val="1"/>
        <c:lblAlgn val="ctr"/>
        <c:noMultiLvlLbl val="1"/>
      </c:catAx>
      <c:valAx>
        <c:axId val="2094734552"/>
        <c:scaling>
          <c:orientation val="minMax"/>
          <c:max val="42"/>
          <c:min val="0"/>
        </c:scaling>
        <c:delete val="1"/>
        <c:axPos val="b"/>
        <c:numFmt formatCode="General" sourceLinked="0"/>
        <c:majorTickMark val="out"/>
        <c:minorTickMark val="none"/>
        <c:tickLblPos val="low"/>
        <c:spPr>
          <a:ln w="12700" cap="flat">
            <a:noFill/>
            <a:prstDash val="solid"/>
            <a:round/>
          </a:ln>
        </c:spPr>
        <c:txPr>
          <a:bodyPr/>
          <a:lstStyle/>
          <a:p>
            <a:pPr>
              <a:defRPr sz="1000" b="0" i="0" u="none" strike="noStrike">
                <a:solidFill>
                  <a:srgbClr val="898781"/>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We are Team 5 and this is our project CDACL-002, Customer Segmentation. We analysed 3,900 purchase records from U.S. shoppers to answer three questions: which product categories should get discounts, how card spending varies with age, season and location, and how customers can be grouped into segments for targeted marketing.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our three main findings. First, discounts should go to Sports, which has the lowest revenue and least loyal buyers, and to Clothing as bundle offers because discounted Clothing baskets are 6.5% larger. Home Decor should not be discounted because discounted orders are smaller. Second, card spend per purchase is the same for every age, season and city, so differences come from the number of card purchases: 36 to 45 year olds, Spring and New York lead. Third, clustering found four value segments and four offer-response segments. Two thirds of revenue comes from Frequent Regulars and Big Spenders, and the Big Spenders give low ratings, so that revenue is at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business wants to understand its customers better so it can spend its marketing budget wisely. The data comes from a MySQL database, customer segmentation, table shopping trends dataset. It has 3,900 purchases and 18 attributes, including age, gender, item, category, amount, city, season, rating, subscription, discount and promo use, previous purchases, payment method and purchase frequency. The data was clean: no missing values and no duplicates.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workflow had six steps. We connected to MySQL with SQLAlchemy and loaded the table into pandas. We standardised column names and checked data quality. Then we explored the data, compared categories, and ran ANOVA, Kruskal-Wallis and chi-square tests for card spending. For segmentation we scaled the features and used K-Means, choosing K with the elbow method and silhouette score, and used a Random Forest to find which features drive each cluster. Finally, we turned the cluster profiles into campaigns.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which product categories should get discounts,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compares the average order value with and without a discount for each category. Clothing is the only category where discounted orders are bigger: 271 dollars versus 254, about 6.5% more. In Accessories, Electronics and Sports, spend stays about the same. In Home Decor, discounted orders are 5% smaller, 253 versus 265 dollars, so a discount there simply loses money. All five categories have similar revenue, between 19 and 21 percent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combine all the evidence we built a discount priority score. Each category is ranked on four signals: low revenue share, low rating, low subscriber share, and how well spend holds up under a discount. Sports scores highest at 0.60. It has the lowest revenue, 19%, the fewest subscribers, 46.8%, yet the best rating, 3.08. Customers like it but don't buy enough, so a discount can bring in new buyers. Clothing is second, but for a different reason: it already sells most, so use threshold or bundle deals to grow basket size. Home Decor should not be discounted. It has the most subscribers and the lowest rating, which points to a product quality issue, not price. One caveat: the differences between categories are small, so this is a relative priority.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looks at card spending, meaning credit and debit cards, and how it changes with age, season and location.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 payments are 40.4% of all purchases. By age, 36 to 45 year olds spend the most on cards, 88.5 thousand dollars, and 18 to 25 year olds the least, 70.4 thousand, about 21% less. Credit cards beat debit cards in every age group. The important point is that the amount per purchase is the same for every age, around 250 to 270 dollars. So older groups spend more in total because they make more card purchases, not bigger ones. Nobody in the data is over 65.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heat map shows card spend for each age group and season. The darkest cells are the hotspots: 36 to 45 year olds in Spring spend 25.9 thousand dollars, the biggest single group, followed by 46 to 55 in Summer and 26 to 35 in Spring. Young shoppers, 18 to 25, peak in Winter, likely holiday shopping. Overall Spring brings 26.1% of card spend and Summer the least. By city, New York leads with 90.7 thousand dollars and the highest card use, 43%, while Miami is lowest at 71.5 thousand and 38%. The best city and season combination is New York in Fall, 28.3 thousand dollars.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tested whether age, season or city change how much people spend per card purchase. ANOVA and Kruskal-Wallis p-values are all above 0.8, far from the 0.05 threshold, so none of them has a significant effect. The chi-square test also shows that the share of people paying by card does not depend on age. This means the differences we saw in totals come from how many card purchases are made. For marketing, that means card campaigns should aim to increase the number of card purchases in the hotspot groups and in the weak cities, rather than trying to raise the amount per purchase.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3 is the customer segmentation: clustering, the dominant factors, and the marketing campaigns.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scaled eight features and ran K-Means for K from 2 to 8. The elbow curve on the left has no sharp bend, which is common with customer data, so we relied on the silhouette score on the right. Among the practical choices of 3, 4 and 5 clusters, K equals 4 clearly scores best at 0.145. Seven or eight clusters score a little higher but are too many to run separate campaigns for. The silhouette is low, which tells us customers differ gradually rather than falling into sharp groups, so we read the segments as tendencies.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clustering used eight features. Both the centroid spread and the Random Forest importance show that discount use and promo-code use completely dominate, at about 94 percent of importance combined. Each cluster is either 0 or 100 percent on these two flags. Age, spend, rating and frequency are almost identical across clusters. So this clustering splits customers by how they respond to offers: Full-Price Loyalists who never use offers, Deal Maximisers who use both, Promo-Code Responders, and Discount-Only Shoppers. Each group is about a quarter of revenue.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clustering left out the offer flags and used only value features: age, order value, previous purchases, frequency and rating. This gives four clearly different groups, driven by frequency, order value and rating. Age and previous purchases don't separate customers. Frequent Regulars buy weekly and bring 34% of revenue. Big Spenders at Risk spend 395 dollars per order and bring 33% of revenue, but rate us only 2.3 out of 5. Happy Occasionals are the most satisfied at 4.6 but buy rarely. Unhappy Bargain Buyers spend the least and are least satisfied.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campaign for each value segment. Frequent Regulars already buy weekly, so reward them with loyalty points and free express shipping, raise basket size with bundles, and avoid deep discounts. Big Spenders at Risk are the most urgent: one third of revenue and unhappy. Follow up after purchase, offer a quality guarantee and VIP service, and send a win-back voucher after a low rating. Happy Occasionals love us but buy rarely, so use reminders and a referral programme. Unhappy Bargain Buyers get low-cost entry-level offers and a short survey, with limited marketing spend.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cross-tab of the two clusterings shows offer behaviour is independent of customer value: every value segment contains all four offer types. So we combine them. The value segment decides who to prioritise and how; the offer segment decides which offer to send. For example, a Big Spender who only uses promo codes gets a VIP code after a bad review, while a Frequent Regular who pays full price gets loyalty points and no discount at all. This avoids giving away margin to customers who would buy anyway. We also time discount campaigns for Fall, when the deal-using segments shop most, and full-price launches for Spring.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discounts should go to Sports and to Clothing as bundles, and Home Decor needs product fixes rather than price cuts. Card spend is driven by the number of purchases, led by 36 to 45 year olds, Spring and New York. Customer value is driven by frequency, order value and rating, and one third of revenue sits with unhappy big spenders. Limitations: the differences between groups are small, the silhouette scores are low, the item and category labels in the data are not always consistent, and there is no date field, so we cannot measure trends over time. As next steps, we recommend A/B testing the campaigns, tracking revenue per segment each quarter, and adding real transaction 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listening. We are happy to take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188720"/>
          </a:xfrm>
          <a:prstGeom prst="rect">
            <a:avLst/>
          </a:prstGeom>
          <a:noFill/>
          <a:ln/>
        </p:spPr>
        <p:txBody>
          <a:bodyPr wrap="square" rtlCol="0"/>
          <a:lstStyle>
            <a:lvl1pPr algn="l" indent="0" marL="0">
              <a:buNone/>
              <a:defRPr lang="en-US" sz="38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800" dirty="0"/>
          </a:p>
        </p:txBody>
      </p:sp>
      <p:sp>
        <p:nvSpPr>
          <p:cNvPr id="3" name="Text 0"/>
          <p:cNvSpPr/>
          <p:nvPr>
            <p:ph idx="101" type="body" hasCustomPrompt="1"/>
          </p:nvPr>
        </p:nvSpPr>
        <p:spPr>
          <a:xfrm>
            <a:off x="548640" y="2743200"/>
            <a:ext cx="8046720" cy="1463040"/>
          </a:xfrm>
          <a:prstGeom prst="rect">
            <a:avLst/>
          </a:prstGeom>
          <a:noFill/>
          <a:ln/>
        </p:spPr>
        <p:txBody>
          <a:bodyPr wrap="square" rtlCol="0"/>
          <a:lstStyle>
            <a:lvl1pPr algn="l" indent="0" marL="0">
              <a:buNone/>
              <a:defRPr lang="en-US" sz="1600" dirty="0">
                <a:solidFill>
                  <a:srgbClr val="CADCFC"/>
                </a:solidFill>
              </a:defRPr>
            </a:lvl1pPr>
          </a:lstStyle>
          <a:p>
            <a:pPr algn="l"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960120"/>
            <a:ext cx="8046720" cy="1600200"/>
          </a:xfrm>
          <a:prstGeom prst="rect">
            <a:avLst/>
          </a:prstGeom>
          <a:noFill/>
          <a:ln/>
        </p:spPr>
        <p:txBody>
          <a:bodyPr wrap="square" rtlCol="0"/>
          <a:lstStyle>
            <a:lvl1pPr algn="l" indent="0" marL="0">
              <a:buNone/>
              <a:defRPr lang="en-US" sz="3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3" name="Text 0"/>
          <p:cNvSpPr/>
          <p:nvPr>
            <p:ph idx="101" type="body" hasCustomPrompt="1"/>
          </p:nvPr>
        </p:nvSpPr>
        <p:spPr>
          <a:xfrm>
            <a:off x="548640" y="2743200"/>
            <a:ext cx="8046720" cy="731520"/>
          </a:xfrm>
          <a:prstGeom prst="rect">
            <a:avLst/>
          </a:prstGeom>
          <a:noFill/>
          <a:ln/>
        </p:spPr>
        <p:txBody>
          <a:bodyPr wrap="square" rtlCol="0"/>
          <a:lstStyle>
            <a:lvl1pPr algn="l" indent="0" marL="0">
              <a:buNone/>
              <a:defRPr lang="en-US" sz="1600" dirty="0">
                <a:solidFill>
                  <a:srgbClr val="CADCFC"/>
                </a:solidFill>
              </a:defRPr>
            </a:lvl1pPr>
          </a:lstStyle>
          <a:p>
            <a:pPr algn="l" indent="0" marL="0">
              <a:buNone/>
            </a:pPr>
            <a:endParaRPr lang="en-US" sz="16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rtlCol="0"/>
          <a:lstStyle>
            <a:lvl1pPr algn="l" indent="0" marL="0">
              <a:buNone/>
              <a:defRPr lang="en-US" sz="26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2600" dirty="0"/>
          </a:p>
        </p:txBody>
      </p:sp>
      <p:sp>
        <p:nvSpPr>
          <p:cNvPr id="3" name="Text 0"/>
          <p:cNvSpPr/>
          <p:nvPr/>
        </p:nvSpPr>
        <p:spPr>
          <a:xfrm>
            <a:off x="457200" y="4773168"/>
            <a:ext cx="4572000" cy="256032"/>
          </a:xfrm>
          <a:prstGeom prst="rect">
            <a:avLst/>
          </a:prstGeom>
          <a:noFill/>
          <a:ln/>
        </p:spPr>
        <p:txBody>
          <a:bodyPr wrap="square" lIns="0" tIns="0" rIns="0" bIns="0" rtlCol="0" anchor="ctr"/>
          <a:lstStyle/>
          <a:p>
            <a:pPr indent="0" marL="0">
              <a:buNone/>
            </a:pPr>
            <a:r>
              <a:rPr lang="en-US" sz="900" dirty="0">
                <a:solidFill>
                  <a:schemeClr val="tx1">
                    <a:alpha val="55000"/>
                  </a:schemeClr>
                </a:solidFill>
              </a:rPr>
              <a:t>CDACL-002 · Customer Segmentation</a:t>
            </a:r>
            <a:endParaRPr lang="en-US" sz="9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8781"/>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188720"/>
          </a:xfrm>
          <a:prstGeom prst="rect">
            <a:avLst/>
          </a:prstGeom>
          <a:noFill/>
          <a:ln/>
        </p:spPr>
        <p:txBody>
          <a:bodyPr wrap="square" lIns="0" tIns="0" rIns="0" bIns="0" rtlCol="0" anchor="b"/>
          <a:lstStyle/>
          <a:p>
            <a:pPr algn="l" indent="0" marL="0">
              <a:buNone/>
            </a:pPr>
            <a:r>
              <a:rPr lang="en-US" sz="3800" b="1" dirty="0">
                <a:solidFill>
                  <a:schemeClr val="bg1"/>
                </a:solidFill>
                <a:latin typeface="Cambria" pitchFamily="34" charset="0"/>
                <a:ea typeface="Cambria" pitchFamily="34" charset="-122"/>
                <a:cs typeface="Cambria" pitchFamily="34" charset="-120"/>
              </a:rPr>
              <a:t>Customer Segmentation of U.S. Shoppers</a:t>
            </a:r>
            <a:endParaRPr lang="en-US" sz="3800" dirty="0"/>
          </a:p>
        </p:txBody>
      </p:sp>
      <p:sp>
        <p:nvSpPr>
          <p:cNvPr id="3" name="Text 0"/>
          <p:cNvSpPr/>
          <p:nvPr>
            <p:ph idx="101" type="body" hasCustomPrompt="1"/>
          </p:nvPr>
        </p:nvSpPr>
        <p:spPr>
          <a:xfrm>
            <a:off x="548640" y="2743200"/>
            <a:ext cx="8046720" cy="1463040"/>
          </a:xfrm>
          <a:prstGeom prst="rect">
            <a:avLst/>
          </a:prstGeom>
          <a:noFill/>
          <a:ln/>
        </p:spPr>
        <p:txBody>
          <a:bodyPr wrap="square" lIns="0" tIns="0" rIns="0" bIns="0" rtlCol="0" anchor="t"/>
          <a:lstStyle/>
          <a:p>
            <a:pPr algn="l" indent="0" marL="0">
              <a:buNone/>
            </a:pPr>
            <a:r>
              <a:rPr lang="en-US" sz="1600" dirty="0">
                <a:solidFill>
                  <a:srgbClr val="CADCFC"/>
                </a:solidFill>
              </a:rPr>
              <a:t>Project CDACL-002 · Shopping Trends Analysis</a:t>
            </a:r>
            <a:endParaRPr lang="en-US" sz="1600" dirty="0"/>
          </a:p>
          <a:p>
            <a:pPr algn="l" indent="0" marL="0">
              <a:buNone/>
            </a:pPr>
            <a:r>
              <a:rPr lang="en-US" sz="1600" dirty="0">
                <a:solidFill>
                  <a:srgbClr val="CADCFC"/>
                </a:solidFill>
              </a:rPr>
              <a:t>Discount strategy · Card spending · Customer clusters &amp; targeted campaigns</a:t>
            </a:r>
            <a:endParaRPr lang="en-US" sz="1600" dirty="0"/>
          </a:p>
          <a:p>
            <a:pPr algn="l" indent="0" marL="0">
              <a:buNone/>
            </a:pPr>
            <a:r>
              <a:rPr lang="en-US" sz="1600" b="1" dirty="0">
                <a:solidFill>
                  <a:srgbClr val="FFFFFF"/>
                </a:solidFill>
              </a:rPr>
              <a:t>Team 5  |  October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Executive summary</a:t>
            </a:r>
            <a:endParaRPr lang="en-US" sz="2600" dirty="0"/>
          </a:p>
        </p:txBody>
      </p:sp>
      <p:sp>
        <p:nvSpPr>
          <p:cNvPr id="4" name="summary card 1"/>
          <p:cNvSpPr/>
          <p:nvPr/>
        </p:nvSpPr>
        <p:spPr>
          <a:xfrm>
            <a:off x="457200" y="1051560"/>
            <a:ext cx="2606040" cy="3429000"/>
          </a:xfrm>
          <a:prstGeom prst="roundRect">
            <a:avLst>
              <a:gd name="adj" fmla="val 2807"/>
            </a:avLst>
          </a:prstGeom>
          <a:solidFill>
            <a:schemeClr val="bg2"/>
          </a:solidFill>
          <a:ln/>
        </p:spPr>
      </p:sp>
      <p:sp>
        <p:nvSpPr>
          <p:cNvPr id="5" name="summary badge 1"/>
          <p:cNvSpPr/>
          <p:nvPr/>
        </p:nvSpPr>
        <p:spPr>
          <a:xfrm>
            <a:off x="685800" y="1280160"/>
            <a:ext cx="502920" cy="502920"/>
          </a:xfrm>
          <a:prstGeom prst="ellipse">
            <a:avLst/>
          </a:prstGeom>
          <a:solidFill>
            <a:srgbClr val="EB6834"/>
          </a:solidFill>
          <a:ln/>
        </p:spPr>
      </p:sp>
      <p:sp>
        <p:nvSpPr>
          <p:cNvPr id="6" name="summary num 1"/>
          <p:cNvSpPr txBox="1"/>
          <p:nvPr/>
        </p:nvSpPr>
        <p:spPr>
          <a:xfrm>
            <a:off x="685800" y="12801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7" name="summary head 1"/>
          <p:cNvSpPr txBox="1"/>
          <p:nvPr/>
        </p:nvSpPr>
        <p:spPr>
          <a:xfrm>
            <a:off x="685800" y="1920240"/>
            <a:ext cx="2194560" cy="411480"/>
          </a:xfrm>
          <a:prstGeom prst="rect">
            <a:avLst/>
          </a:prstGeom>
          <a:noFill/>
          <a:ln/>
        </p:spPr>
        <p:txBody>
          <a:bodyPr wrap="square" lIns="0" tIns="0" rIns="0" bIns="0" rtlCol="0" anchor="ctr"/>
          <a:lstStyle/>
          <a:p>
            <a:pPr indent="0" marL="0">
              <a:buNone/>
            </a:pPr>
            <a:r>
              <a:rPr lang="en-US" sz="1700" b="1" dirty="0">
                <a:solidFill>
                  <a:schemeClr val="tx2"/>
                </a:solidFill>
                <a:latin typeface="Cambria" pitchFamily="34" charset="0"/>
                <a:ea typeface="Cambria" pitchFamily="34" charset="-122"/>
                <a:cs typeface="Cambria" pitchFamily="34" charset="-120"/>
              </a:rPr>
              <a:t>Discount strategy</a:t>
            </a:r>
            <a:endParaRPr lang="en-US" sz="1700" dirty="0"/>
          </a:p>
        </p:txBody>
      </p:sp>
      <p:sp>
        <p:nvSpPr>
          <p:cNvPr id="8" name="summary text 1"/>
          <p:cNvSpPr txBox="1"/>
          <p:nvPr/>
        </p:nvSpPr>
        <p:spPr>
          <a:xfrm>
            <a:off x="685800" y="2377440"/>
            <a:ext cx="2194560" cy="1920240"/>
          </a:xfrm>
          <a:prstGeom prst="rect">
            <a:avLst/>
          </a:prstGeom>
          <a:noFill/>
          <a:ln/>
        </p:spPr>
        <p:txBody>
          <a:bodyPr wrap="square" lIns="0" tIns="0" rIns="0" bIns="0" rtlCol="0" anchor="t"/>
          <a:lstStyle/>
          <a:p>
            <a:pPr indent="0" marL="0">
              <a:buNone/>
            </a:pPr>
            <a:r>
              <a:rPr lang="en-US" sz="1400" dirty="0">
                <a:solidFill>
                  <a:schemeClr val="tx1"/>
                </a:solidFill>
              </a:rPr>
              <a:t>Discount Sports (lowest revenue, least loyal). Use bundle offers on Clothing (+6.5% basket). Don't discount Home Decor (basket shrinks 5%).</a:t>
            </a:r>
            <a:endParaRPr lang="en-US" sz="1400" dirty="0"/>
          </a:p>
        </p:txBody>
      </p:sp>
      <p:sp>
        <p:nvSpPr>
          <p:cNvPr id="9" name="summary card 2"/>
          <p:cNvSpPr/>
          <p:nvPr/>
        </p:nvSpPr>
        <p:spPr>
          <a:xfrm>
            <a:off x="3246120" y="1051560"/>
            <a:ext cx="2606040" cy="3429000"/>
          </a:xfrm>
          <a:prstGeom prst="roundRect">
            <a:avLst>
              <a:gd name="adj" fmla="val 2807"/>
            </a:avLst>
          </a:prstGeom>
          <a:solidFill>
            <a:schemeClr val="bg2"/>
          </a:solidFill>
          <a:ln/>
        </p:spPr>
      </p:sp>
      <p:sp>
        <p:nvSpPr>
          <p:cNvPr id="10" name="summary badge 2"/>
          <p:cNvSpPr/>
          <p:nvPr/>
        </p:nvSpPr>
        <p:spPr>
          <a:xfrm>
            <a:off x="3474720" y="1280160"/>
            <a:ext cx="502920" cy="502920"/>
          </a:xfrm>
          <a:prstGeom prst="ellipse">
            <a:avLst/>
          </a:prstGeom>
          <a:solidFill>
            <a:srgbClr val="2A78D6"/>
          </a:solidFill>
          <a:ln/>
        </p:spPr>
      </p:sp>
      <p:sp>
        <p:nvSpPr>
          <p:cNvPr id="11" name="summary num 2"/>
          <p:cNvSpPr txBox="1"/>
          <p:nvPr/>
        </p:nvSpPr>
        <p:spPr>
          <a:xfrm>
            <a:off x="3474720" y="12801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2" name="summary head 2"/>
          <p:cNvSpPr txBox="1"/>
          <p:nvPr/>
        </p:nvSpPr>
        <p:spPr>
          <a:xfrm>
            <a:off x="3474720" y="1920240"/>
            <a:ext cx="2194560" cy="411480"/>
          </a:xfrm>
          <a:prstGeom prst="rect">
            <a:avLst/>
          </a:prstGeom>
          <a:noFill/>
          <a:ln/>
        </p:spPr>
        <p:txBody>
          <a:bodyPr wrap="square" lIns="0" tIns="0" rIns="0" bIns="0" rtlCol="0" anchor="ctr"/>
          <a:lstStyle/>
          <a:p>
            <a:pPr indent="0" marL="0">
              <a:buNone/>
            </a:pPr>
            <a:r>
              <a:rPr lang="en-US" sz="1700" b="1" dirty="0">
                <a:solidFill>
                  <a:schemeClr val="tx2"/>
                </a:solidFill>
                <a:latin typeface="Cambria" pitchFamily="34" charset="0"/>
                <a:ea typeface="Cambria" pitchFamily="34" charset="-122"/>
                <a:cs typeface="Cambria" pitchFamily="34" charset="-120"/>
              </a:rPr>
              <a:t>Card spending</a:t>
            </a:r>
            <a:endParaRPr lang="en-US" sz="1700" dirty="0"/>
          </a:p>
        </p:txBody>
      </p:sp>
      <p:sp>
        <p:nvSpPr>
          <p:cNvPr id="13" name="summary text 2"/>
          <p:cNvSpPr txBox="1"/>
          <p:nvPr/>
        </p:nvSpPr>
        <p:spPr>
          <a:xfrm>
            <a:off x="3474720" y="2377440"/>
            <a:ext cx="2194560" cy="1920240"/>
          </a:xfrm>
          <a:prstGeom prst="rect">
            <a:avLst/>
          </a:prstGeom>
          <a:noFill/>
          <a:ln/>
        </p:spPr>
        <p:txBody>
          <a:bodyPr wrap="square" lIns="0" tIns="0" rIns="0" bIns="0" rtlCol="0" anchor="t"/>
          <a:lstStyle/>
          <a:p>
            <a:pPr indent="0" marL="0">
              <a:buNone/>
            </a:pPr>
            <a:r>
              <a:rPr lang="en-US" sz="1400" dirty="0">
                <a:solidFill>
                  <a:schemeClr val="tx1"/>
                </a:solidFill>
              </a:rPr>
              <a:t>Spend per purchase is flat across age, season and city (p &gt; 0.8). 36–45 yr olds, Spring and New York drive the most card volume.</a:t>
            </a:r>
            <a:endParaRPr lang="en-US" sz="1400" dirty="0"/>
          </a:p>
        </p:txBody>
      </p:sp>
      <p:sp>
        <p:nvSpPr>
          <p:cNvPr id="14" name="summary card 3"/>
          <p:cNvSpPr/>
          <p:nvPr/>
        </p:nvSpPr>
        <p:spPr>
          <a:xfrm>
            <a:off x="6035040" y="1051560"/>
            <a:ext cx="2606040" cy="3429000"/>
          </a:xfrm>
          <a:prstGeom prst="roundRect">
            <a:avLst>
              <a:gd name="adj" fmla="val 2807"/>
            </a:avLst>
          </a:prstGeom>
          <a:solidFill>
            <a:schemeClr val="bg2"/>
          </a:solidFill>
          <a:ln/>
        </p:spPr>
      </p:sp>
      <p:sp>
        <p:nvSpPr>
          <p:cNvPr id="15" name="summary badge 3"/>
          <p:cNvSpPr/>
          <p:nvPr/>
        </p:nvSpPr>
        <p:spPr>
          <a:xfrm>
            <a:off x="6263640" y="1280160"/>
            <a:ext cx="502920" cy="502920"/>
          </a:xfrm>
          <a:prstGeom prst="ellipse">
            <a:avLst/>
          </a:prstGeom>
          <a:solidFill>
            <a:srgbClr val="1BAF7A"/>
          </a:solidFill>
          <a:ln/>
        </p:spPr>
      </p:sp>
      <p:sp>
        <p:nvSpPr>
          <p:cNvPr id="16" name="summary num 3"/>
          <p:cNvSpPr txBox="1"/>
          <p:nvPr/>
        </p:nvSpPr>
        <p:spPr>
          <a:xfrm>
            <a:off x="6263640" y="12801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7" name="summary head 3"/>
          <p:cNvSpPr txBox="1"/>
          <p:nvPr/>
        </p:nvSpPr>
        <p:spPr>
          <a:xfrm>
            <a:off x="6263640" y="1920240"/>
            <a:ext cx="2194560" cy="411480"/>
          </a:xfrm>
          <a:prstGeom prst="rect">
            <a:avLst/>
          </a:prstGeom>
          <a:noFill/>
          <a:ln/>
        </p:spPr>
        <p:txBody>
          <a:bodyPr wrap="square" lIns="0" tIns="0" rIns="0" bIns="0" rtlCol="0" anchor="ctr"/>
          <a:lstStyle/>
          <a:p>
            <a:pPr indent="0" marL="0">
              <a:buNone/>
            </a:pPr>
            <a:r>
              <a:rPr lang="en-US" sz="1700" b="1" dirty="0">
                <a:solidFill>
                  <a:schemeClr val="tx2"/>
                </a:solidFill>
                <a:latin typeface="Cambria" pitchFamily="34" charset="0"/>
                <a:ea typeface="Cambria" pitchFamily="34" charset="-122"/>
                <a:cs typeface="Cambria" pitchFamily="34" charset="-120"/>
              </a:rPr>
              <a:t>Customer segments</a:t>
            </a:r>
            <a:endParaRPr lang="en-US" sz="1700" dirty="0"/>
          </a:p>
        </p:txBody>
      </p:sp>
      <p:sp>
        <p:nvSpPr>
          <p:cNvPr id="18" name="summary text 3"/>
          <p:cNvSpPr txBox="1"/>
          <p:nvPr/>
        </p:nvSpPr>
        <p:spPr>
          <a:xfrm>
            <a:off x="6263640" y="2377440"/>
            <a:ext cx="2194560" cy="1920240"/>
          </a:xfrm>
          <a:prstGeom prst="rect">
            <a:avLst/>
          </a:prstGeom>
          <a:noFill/>
          <a:ln/>
        </p:spPr>
        <p:txBody>
          <a:bodyPr wrap="square" lIns="0" tIns="0" rIns="0" bIns="0" rtlCol="0" anchor="t"/>
          <a:lstStyle/>
          <a:p>
            <a:pPr indent="0" marL="0">
              <a:buNone/>
            </a:pPr>
            <a:r>
              <a:rPr lang="en-US" sz="1400" dirty="0">
                <a:solidFill>
                  <a:schemeClr val="tx1"/>
                </a:solidFill>
              </a:rPr>
              <a:t>4 value segments: Frequent Regulars and Big Spenders earn 67% of revenue, but Big Spenders rate only 2.3/5, so that revenue is at risk.</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878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Business problem and dataset</a:t>
            </a:r>
            <a:endParaRPr lang="en-US" sz="2600" dirty="0"/>
          </a:p>
        </p:txBody>
      </p:sp>
      <p:sp>
        <p:nvSpPr>
          <p:cNvPr id="4" name="objectives"/>
          <p:cNvSpPr txBox="1"/>
          <p:nvPr/>
        </p:nvSpPr>
        <p:spPr>
          <a:xfrm>
            <a:off x="457200" y="1051560"/>
            <a:ext cx="3931920" cy="2377440"/>
          </a:xfrm>
          <a:prstGeom prst="rect">
            <a:avLst/>
          </a:prstGeom>
          <a:noFill/>
          <a:ln/>
        </p:spPr>
        <p:txBody>
          <a:bodyPr wrap="square" lIns="0" tIns="0" rIns="0" bIns="0" rtlCol="0" anchor="t"/>
          <a:lstStyle/>
          <a:p>
            <a:pPr indent="0" marL="0">
              <a:spcAft>
                <a:spcPts val="600"/>
              </a:spcAft>
              <a:buNone/>
            </a:pPr>
            <a:r>
              <a:rPr lang="en-US" sz="1700" b="1" dirty="0">
                <a:solidFill>
                  <a:schemeClr val="tx2"/>
                </a:solidFill>
                <a:latin typeface="Cambria" pitchFamily="34" charset="0"/>
                <a:ea typeface="Cambria" pitchFamily="34" charset="-122"/>
                <a:cs typeface="Cambria" pitchFamily="34" charset="-120"/>
              </a:rPr>
              <a:t>Objectives</a:t>
            </a:r>
            <a:endParaRPr lang="en-US" sz="1400" dirty="0"/>
          </a:p>
          <a:p>
            <a:pPr marL="342900" indent="-342900">
              <a:spcAft>
                <a:spcPts val="600"/>
              </a:spcAft>
              <a:buSzPct val="100000"/>
              <a:buChar char="•"/>
            </a:pPr>
            <a:r>
              <a:rPr lang="en-US" sz="1400" dirty="0">
                <a:solidFill>
                  <a:schemeClr val="tx1"/>
                </a:solidFill>
              </a:rPr>
              <a:t>Find where discounts pay off</a:t>
            </a:r>
            <a:endParaRPr lang="en-US" sz="1400" dirty="0"/>
          </a:p>
          <a:p>
            <a:pPr marL="342900" indent="-342900">
              <a:spcAft>
                <a:spcPts val="600"/>
              </a:spcAft>
              <a:buSzPct val="100000"/>
              <a:buChar char="•"/>
            </a:pPr>
            <a:r>
              <a:rPr lang="en-US" sz="1400" dirty="0">
                <a:solidFill>
                  <a:schemeClr val="tx1"/>
                </a:solidFill>
              </a:rPr>
              <a:t>Explain card spending by age, season and location</a:t>
            </a:r>
            <a:endParaRPr lang="en-US" sz="1400" dirty="0"/>
          </a:p>
          <a:p>
            <a:pPr marL="342900" indent="-342900">
              <a:spcAft>
                <a:spcPts val="600"/>
              </a:spcAft>
              <a:buSzPct val="100000"/>
              <a:buChar char="•"/>
            </a:pPr>
            <a:r>
              <a:rPr lang="en-US" sz="1400" dirty="0">
                <a:solidFill>
                  <a:schemeClr val="tx1"/>
                </a:solidFill>
              </a:rPr>
              <a:t>Group customers into 3+ segments, find the dominant factors</a:t>
            </a:r>
            <a:endParaRPr lang="en-US" sz="1400" dirty="0"/>
          </a:p>
          <a:p>
            <a:pPr marL="342900" indent="-342900">
              <a:spcAft>
                <a:spcPts val="600"/>
              </a:spcAft>
              <a:buSzPct val="100000"/>
              <a:buChar char="•"/>
            </a:pPr>
            <a:r>
              <a:rPr lang="en-US" sz="1400" dirty="0">
                <a:solidFill>
                  <a:schemeClr val="tx1"/>
                </a:solidFill>
              </a:rPr>
              <a:t>Design targeted marketing campaigns</a:t>
            </a:r>
            <a:endParaRPr lang="en-US" sz="1400" dirty="0"/>
          </a:p>
        </p:txBody>
      </p:sp>
      <p:sp>
        <p:nvSpPr>
          <p:cNvPr id="5" name="source note"/>
          <p:cNvSpPr txBox="1"/>
          <p:nvPr/>
        </p:nvSpPr>
        <p:spPr>
          <a:xfrm>
            <a:off x="457200" y="3840480"/>
            <a:ext cx="3931920" cy="640080"/>
          </a:xfrm>
          <a:prstGeom prst="rect">
            <a:avLst/>
          </a:prstGeom>
          <a:noFill/>
          <a:ln/>
        </p:spPr>
        <p:txBody>
          <a:bodyPr wrap="square" lIns="0" tIns="0" rIns="0" bIns="0" rtlCol="0" anchor="ctr"/>
          <a:lstStyle/>
          <a:p>
            <a:pPr indent="0" marL="0">
              <a:buNone/>
            </a:pPr>
            <a:r>
              <a:rPr lang="en-US" sz="1100" dirty="0">
                <a:solidFill>
                  <a:schemeClr val="tx1">
                    <a:alpha val="75000"/>
                  </a:schemeClr>
                </a:solidFill>
              </a:rPr>
              <a:t>Source: MySQL · database “customer segmentation” · table shopping_trends_dataset · analysed in Python (Google Colab)</a:t>
            </a:r>
            <a:endParaRPr lang="en-US" sz="1100" dirty="0"/>
          </a:p>
        </p:txBody>
      </p:sp>
      <p:sp>
        <p:nvSpPr>
          <p:cNvPr id="6" name="data stat card 0"/>
          <p:cNvSpPr/>
          <p:nvPr/>
        </p:nvSpPr>
        <p:spPr>
          <a:xfrm>
            <a:off x="4846320" y="1051560"/>
            <a:ext cx="1783080" cy="1463040"/>
          </a:xfrm>
          <a:prstGeom prst="roundRect">
            <a:avLst>
              <a:gd name="adj" fmla="val 5000"/>
            </a:avLst>
          </a:prstGeom>
          <a:solidFill>
            <a:schemeClr val="bg2"/>
          </a:solidFill>
          <a:ln/>
        </p:spPr>
      </p:sp>
      <p:sp>
        <p:nvSpPr>
          <p:cNvPr id="7" name="data stat 0"/>
          <p:cNvSpPr txBox="1"/>
          <p:nvPr/>
        </p:nvSpPr>
        <p:spPr>
          <a:xfrm>
            <a:off x="5029200" y="1325880"/>
            <a:ext cx="1463040" cy="914400"/>
          </a:xfrm>
          <a:prstGeom prst="rect">
            <a:avLst/>
          </a:prstGeom>
          <a:noFill/>
          <a:ln/>
        </p:spPr>
        <p:txBody>
          <a:bodyPr wrap="square" lIns="0" tIns="0" rIns="0" bIns="0" rtlCol="0" anchor="t"/>
          <a:lstStyle/>
          <a:p>
            <a:pPr indent="0" marL="0">
              <a:buNone/>
            </a:pPr>
            <a:r>
              <a:rPr lang="en-US" sz="3000" b="1" dirty="0">
                <a:solidFill>
                  <a:srgbClr val="2A78D6"/>
                </a:solidFill>
                <a:latin typeface="Cambria" pitchFamily="34" charset="0"/>
                <a:ea typeface="Cambria" pitchFamily="34" charset="-122"/>
                <a:cs typeface="Cambria" pitchFamily="34" charset="-120"/>
              </a:rPr>
              <a:t>3,900</a:t>
            </a:r>
            <a:endParaRPr lang="en-US" sz="3000" dirty="0"/>
          </a:p>
          <a:p>
            <a:pPr indent="0" marL="0">
              <a:buNone/>
            </a:pPr>
            <a:r>
              <a:rPr lang="en-US" sz="1200" dirty="0">
                <a:solidFill>
                  <a:schemeClr val="tx1"/>
                </a:solidFill>
              </a:rPr>
              <a:t>purchase records</a:t>
            </a:r>
            <a:endParaRPr lang="en-US" sz="3000" dirty="0"/>
          </a:p>
        </p:txBody>
      </p:sp>
      <p:sp>
        <p:nvSpPr>
          <p:cNvPr id="8" name="data stat card 1"/>
          <p:cNvSpPr/>
          <p:nvPr/>
        </p:nvSpPr>
        <p:spPr>
          <a:xfrm>
            <a:off x="6812280" y="1051560"/>
            <a:ext cx="1783080" cy="1463040"/>
          </a:xfrm>
          <a:prstGeom prst="roundRect">
            <a:avLst>
              <a:gd name="adj" fmla="val 5000"/>
            </a:avLst>
          </a:prstGeom>
          <a:solidFill>
            <a:schemeClr val="bg2"/>
          </a:solidFill>
          <a:ln/>
        </p:spPr>
      </p:sp>
      <p:sp>
        <p:nvSpPr>
          <p:cNvPr id="9" name="data stat 1"/>
          <p:cNvSpPr txBox="1"/>
          <p:nvPr/>
        </p:nvSpPr>
        <p:spPr>
          <a:xfrm>
            <a:off x="6995160" y="1325880"/>
            <a:ext cx="1463040" cy="914400"/>
          </a:xfrm>
          <a:prstGeom prst="rect">
            <a:avLst/>
          </a:prstGeom>
          <a:noFill/>
          <a:ln/>
        </p:spPr>
        <p:txBody>
          <a:bodyPr wrap="square" lIns="0" tIns="0" rIns="0" bIns="0" rtlCol="0" anchor="t"/>
          <a:lstStyle/>
          <a:p>
            <a:pPr indent="0" marL="0">
              <a:buNone/>
            </a:pPr>
            <a:r>
              <a:rPr lang="en-US" sz="3000" b="1" dirty="0">
                <a:solidFill>
                  <a:srgbClr val="EB6834"/>
                </a:solidFill>
                <a:latin typeface="Cambria" pitchFamily="34" charset="0"/>
                <a:ea typeface="Cambria" pitchFamily="34" charset="-122"/>
                <a:cs typeface="Cambria" pitchFamily="34" charset="-120"/>
              </a:rPr>
              <a:t>18</a:t>
            </a:r>
            <a:endParaRPr lang="en-US" sz="3000" dirty="0"/>
          </a:p>
          <a:p>
            <a:pPr indent="0" marL="0">
              <a:buNone/>
            </a:pPr>
            <a:r>
              <a:rPr lang="en-US" sz="1200" dirty="0">
                <a:solidFill>
                  <a:schemeClr val="tx1"/>
                </a:solidFill>
              </a:rPr>
              <a:t>attributes</a:t>
            </a:r>
            <a:endParaRPr lang="en-US" sz="3000" dirty="0"/>
          </a:p>
        </p:txBody>
      </p:sp>
      <p:sp>
        <p:nvSpPr>
          <p:cNvPr id="10" name="data stat card 2"/>
          <p:cNvSpPr/>
          <p:nvPr/>
        </p:nvSpPr>
        <p:spPr>
          <a:xfrm>
            <a:off x="4846320" y="2743200"/>
            <a:ext cx="1783080" cy="1463040"/>
          </a:xfrm>
          <a:prstGeom prst="roundRect">
            <a:avLst>
              <a:gd name="adj" fmla="val 5000"/>
            </a:avLst>
          </a:prstGeom>
          <a:solidFill>
            <a:schemeClr val="bg2"/>
          </a:solidFill>
          <a:ln/>
        </p:spPr>
      </p:sp>
      <p:sp>
        <p:nvSpPr>
          <p:cNvPr id="11" name="data stat 2"/>
          <p:cNvSpPr txBox="1"/>
          <p:nvPr/>
        </p:nvSpPr>
        <p:spPr>
          <a:xfrm>
            <a:off x="5029200" y="3017520"/>
            <a:ext cx="1463040" cy="914400"/>
          </a:xfrm>
          <a:prstGeom prst="rect">
            <a:avLst/>
          </a:prstGeom>
          <a:noFill/>
          <a:ln/>
        </p:spPr>
        <p:txBody>
          <a:bodyPr wrap="square" lIns="0" tIns="0" rIns="0" bIns="0" rtlCol="0" anchor="t"/>
          <a:lstStyle/>
          <a:p>
            <a:pPr indent="0" marL="0">
              <a:buNone/>
            </a:pPr>
            <a:r>
              <a:rPr lang="en-US" sz="3000" b="1" dirty="0">
                <a:solidFill>
                  <a:srgbClr val="1BAF7A"/>
                </a:solidFill>
                <a:latin typeface="Cambria" pitchFamily="34" charset="0"/>
                <a:ea typeface="Cambria" pitchFamily="34" charset="-122"/>
                <a:cs typeface="Cambria" pitchFamily="34" charset="-120"/>
              </a:rPr>
              <a:t>5</a:t>
            </a:r>
            <a:endParaRPr lang="en-US" sz="3000" dirty="0"/>
          </a:p>
          <a:p>
            <a:pPr indent="0" marL="0">
              <a:buNone/>
            </a:pPr>
            <a:r>
              <a:rPr lang="en-US" sz="1200" dirty="0">
                <a:solidFill>
                  <a:schemeClr val="tx1"/>
                </a:solidFill>
              </a:rPr>
              <a:t>categories · 5 cities</a:t>
            </a:r>
            <a:endParaRPr lang="en-US" sz="3000" dirty="0"/>
          </a:p>
        </p:txBody>
      </p:sp>
      <p:sp>
        <p:nvSpPr>
          <p:cNvPr id="12" name="data stat card 3"/>
          <p:cNvSpPr/>
          <p:nvPr/>
        </p:nvSpPr>
        <p:spPr>
          <a:xfrm>
            <a:off x="6812280" y="2743200"/>
            <a:ext cx="1783080" cy="1463040"/>
          </a:xfrm>
          <a:prstGeom prst="roundRect">
            <a:avLst>
              <a:gd name="adj" fmla="val 5000"/>
            </a:avLst>
          </a:prstGeom>
          <a:solidFill>
            <a:schemeClr val="bg2"/>
          </a:solidFill>
          <a:ln/>
        </p:spPr>
      </p:sp>
      <p:sp>
        <p:nvSpPr>
          <p:cNvPr id="13" name="data stat 3"/>
          <p:cNvSpPr txBox="1"/>
          <p:nvPr/>
        </p:nvSpPr>
        <p:spPr>
          <a:xfrm>
            <a:off x="6995160" y="3017520"/>
            <a:ext cx="1463040" cy="914400"/>
          </a:xfrm>
          <a:prstGeom prst="rect">
            <a:avLst/>
          </a:prstGeom>
          <a:noFill/>
          <a:ln/>
        </p:spPr>
        <p:txBody>
          <a:bodyPr wrap="square" lIns="0" tIns="0" rIns="0" bIns="0" rtlCol="0" anchor="t"/>
          <a:lstStyle/>
          <a:p>
            <a:pPr indent="0" marL="0">
              <a:buNone/>
            </a:pPr>
            <a:r>
              <a:rPr lang="en-US" sz="3000" b="1" dirty="0">
                <a:solidFill>
                  <a:srgbClr val="1B2A4A"/>
                </a:solidFill>
                <a:latin typeface="Cambria" pitchFamily="34" charset="0"/>
                <a:ea typeface="Cambria" pitchFamily="34" charset="-122"/>
                <a:cs typeface="Cambria" pitchFamily="34" charset="-120"/>
              </a:rPr>
              <a:t>$996K</a:t>
            </a:r>
            <a:endParaRPr lang="en-US" sz="3000" dirty="0"/>
          </a:p>
          <a:p>
            <a:pPr indent="0" marL="0">
              <a:buNone/>
            </a:pPr>
            <a:r>
              <a:rPr lang="en-US" sz="1200" dirty="0">
                <a:solidFill>
                  <a:schemeClr val="tx1"/>
                </a:solidFill>
              </a:rPr>
              <a:t>total revenue</a:t>
            </a:r>
            <a:endParaRPr lang="en-US" sz="3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8781"/>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Approach: from database to campaigns</a:t>
            </a:r>
            <a:endParaRPr lang="en-US" sz="2600" dirty="0"/>
          </a:p>
        </p:txBody>
      </p:sp>
      <p:sp>
        <p:nvSpPr>
          <p:cNvPr id="4" name="step card 1"/>
          <p:cNvSpPr/>
          <p:nvPr/>
        </p:nvSpPr>
        <p:spPr>
          <a:xfrm>
            <a:off x="457200" y="1417320"/>
            <a:ext cx="1261872" cy="2377440"/>
          </a:xfrm>
          <a:prstGeom prst="roundRect">
            <a:avLst>
              <a:gd name="adj" fmla="val 5797"/>
            </a:avLst>
          </a:prstGeom>
          <a:solidFill>
            <a:schemeClr val="bg2"/>
          </a:solidFill>
          <a:ln/>
        </p:spPr>
      </p:sp>
      <p:sp>
        <p:nvSpPr>
          <p:cNvPr id="5" name="step badge 1"/>
          <p:cNvSpPr/>
          <p:nvPr/>
        </p:nvSpPr>
        <p:spPr>
          <a:xfrm>
            <a:off x="859536" y="1600200"/>
            <a:ext cx="457200" cy="457200"/>
          </a:xfrm>
          <a:prstGeom prst="ellipse">
            <a:avLst/>
          </a:prstGeom>
          <a:solidFill>
            <a:srgbClr val="2A78D6"/>
          </a:solidFill>
          <a:ln/>
        </p:spPr>
      </p:sp>
      <p:sp>
        <p:nvSpPr>
          <p:cNvPr id="6" name="step num 1"/>
          <p:cNvSpPr txBox="1"/>
          <p:nvPr/>
        </p:nvSpPr>
        <p:spPr>
          <a:xfrm>
            <a:off x="859536" y="16002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7" name="step head 1"/>
          <p:cNvSpPr txBox="1"/>
          <p:nvPr/>
        </p:nvSpPr>
        <p:spPr>
          <a:xfrm>
            <a:off x="548640" y="2194560"/>
            <a:ext cx="1078992" cy="365760"/>
          </a:xfrm>
          <a:prstGeom prst="rect">
            <a:avLst/>
          </a:prstGeom>
          <a:noFill/>
          <a:ln/>
        </p:spPr>
        <p:txBody>
          <a:bodyPr wrap="square" lIns="0" tIns="0" rIns="0" bIns="0" rtlCol="0" anchor="ctr"/>
          <a:lstStyle/>
          <a:p>
            <a:pPr algn="ctr" indent="0" marL="0">
              <a:buNone/>
            </a:pPr>
            <a:r>
              <a:rPr lang="en-US" sz="1500" b="1" dirty="0">
                <a:solidFill>
                  <a:schemeClr val="tx2"/>
                </a:solidFill>
              </a:rPr>
              <a:t>Extract</a:t>
            </a:r>
            <a:endParaRPr lang="en-US" sz="1500" dirty="0"/>
          </a:p>
        </p:txBody>
      </p:sp>
      <p:sp>
        <p:nvSpPr>
          <p:cNvPr id="8" name="step text 1"/>
          <p:cNvSpPr txBox="1"/>
          <p:nvPr/>
        </p:nvSpPr>
        <p:spPr>
          <a:xfrm>
            <a:off x="548640" y="2606040"/>
            <a:ext cx="1078992" cy="1097280"/>
          </a:xfrm>
          <a:prstGeom prst="rect">
            <a:avLst/>
          </a:prstGeom>
          <a:noFill/>
          <a:ln/>
        </p:spPr>
        <p:txBody>
          <a:bodyPr wrap="square" lIns="0" tIns="0" rIns="0" bIns="0" rtlCol="0" anchor="t"/>
          <a:lstStyle/>
          <a:p>
            <a:pPr algn="ctr" indent="0" marL="0">
              <a:buNone/>
            </a:pPr>
            <a:r>
              <a:rPr lang="en-US" sz="1100" dirty="0">
                <a:solidFill>
                  <a:schemeClr val="tx1"/>
                </a:solidFill>
              </a:rPr>
              <a:t>MySQL → pandas via SQLAlchemy</a:t>
            </a:r>
            <a:endParaRPr lang="en-US" sz="1100" dirty="0"/>
          </a:p>
        </p:txBody>
      </p:sp>
      <p:sp>
        <p:nvSpPr>
          <p:cNvPr id="9" name="step card 2"/>
          <p:cNvSpPr/>
          <p:nvPr/>
        </p:nvSpPr>
        <p:spPr>
          <a:xfrm>
            <a:off x="1856232" y="1417320"/>
            <a:ext cx="1261872" cy="2377440"/>
          </a:xfrm>
          <a:prstGeom prst="roundRect">
            <a:avLst>
              <a:gd name="adj" fmla="val 5797"/>
            </a:avLst>
          </a:prstGeom>
          <a:solidFill>
            <a:schemeClr val="bg2"/>
          </a:solidFill>
          <a:ln/>
        </p:spPr>
      </p:sp>
      <p:sp>
        <p:nvSpPr>
          <p:cNvPr id="10" name="step badge 2"/>
          <p:cNvSpPr/>
          <p:nvPr/>
        </p:nvSpPr>
        <p:spPr>
          <a:xfrm>
            <a:off x="2258568" y="1600200"/>
            <a:ext cx="457200" cy="457200"/>
          </a:xfrm>
          <a:prstGeom prst="ellipse">
            <a:avLst/>
          </a:prstGeom>
          <a:solidFill>
            <a:srgbClr val="2A78D6"/>
          </a:solidFill>
          <a:ln/>
        </p:spPr>
      </p:sp>
      <p:sp>
        <p:nvSpPr>
          <p:cNvPr id="11" name="step num 2"/>
          <p:cNvSpPr txBox="1"/>
          <p:nvPr/>
        </p:nvSpPr>
        <p:spPr>
          <a:xfrm>
            <a:off x="2258568" y="16002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2" name="step head 2"/>
          <p:cNvSpPr txBox="1"/>
          <p:nvPr/>
        </p:nvSpPr>
        <p:spPr>
          <a:xfrm>
            <a:off x="1947672" y="2194560"/>
            <a:ext cx="1078992" cy="365760"/>
          </a:xfrm>
          <a:prstGeom prst="rect">
            <a:avLst/>
          </a:prstGeom>
          <a:noFill/>
          <a:ln/>
        </p:spPr>
        <p:txBody>
          <a:bodyPr wrap="square" lIns="0" tIns="0" rIns="0" bIns="0" rtlCol="0" anchor="ctr"/>
          <a:lstStyle/>
          <a:p>
            <a:pPr algn="ctr" indent="0" marL="0">
              <a:buNone/>
            </a:pPr>
            <a:r>
              <a:rPr lang="en-US" sz="1500" b="1" dirty="0">
                <a:solidFill>
                  <a:schemeClr val="tx2"/>
                </a:solidFill>
              </a:rPr>
              <a:t>Clean</a:t>
            </a:r>
            <a:endParaRPr lang="en-US" sz="1500" dirty="0"/>
          </a:p>
        </p:txBody>
      </p:sp>
      <p:sp>
        <p:nvSpPr>
          <p:cNvPr id="13" name="step text 2"/>
          <p:cNvSpPr txBox="1"/>
          <p:nvPr/>
        </p:nvSpPr>
        <p:spPr>
          <a:xfrm>
            <a:off x="1947672" y="2606040"/>
            <a:ext cx="1078992" cy="1097280"/>
          </a:xfrm>
          <a:prstGeom prst="rect">
            <a:avLst/>
          </a:prstGeom>
          <a:noFill/>
          <a:ln/>
        </p:spPr>
        <p:txBody>
          <a:bodyPr wrap="square" lIns="0" tIns="0" rIns="0" bIns="0" rtlCol="0" anchor="t"/>
          <a:lstStyle/>
          <a:p>
            <a:pPr algn="ctr" indent="0" marL="0">
              <a:buNone/>
            </a:pPr>
            <a:r>
              <a:rPr lang="en-US" sz="1100" dirty="0">
                <a:solidFill>
                  <a:schemeClr val="tx1"/>
                </a:solidFill>
              </a:rPr>
              <a:t>Standardise columns, check nulls &amp; duplicates</a:t>
            </a:r>
            <a:endParaRPr lang="en-US" sz="1100" dirty="0"/>
          </a:p>
        </p:txBody>
      </p:sp>
      <p:sp>
        <p:nvSpPr>
          <p:cNvPr id="14" name="step card 3"/>
          <p:cNvSpPr/>
          <p:nvPr/>
        </p:nvSpPr>
        <p:spPr>
          <a:xfrm>
            <a:off x="3255264" y="1417320"/>
            <a:ext cx="1261872" cy="2377440"/>
          </a:xfrm>
          <a:prstGeom prst="roundRect">
            <a:avLst>
              <a:gd name="adj" fmla="val 5797"/>
            </a:avLst>
          </a:prstGeom>
          <a:solidFill>
            <a:schemeClr val="bg2"/>
          </a:solidFill>
          <a:ln/>
        </p:spPr>
      </p:sp>
      <p:sp>
        <p:nvSpPr>
          <p:cNvPr id="15" name="step badge 3"/>
          <p:cNvSpPr/>
          <p:nvPr/>
        </p:nvSpPr>
        <p:spPr>
          <a:xfrm>
            <a:off x="3657600" y="1600200"/>
            <a:ext cx="457200" cy="457200"/>
          </a:xfrm>
          <a:prstGeom prst="ellipse">
            <a:avLst/>
          </a:prstGeom>
          <a:solidFill>
            <a:srgbClr val="2A78D6"/>
          </a:solidFill>
          <a:ln/>
        </p:spPr>
      </p:sp>
      <p:sp>
        <p:nvSpPr>
          <p:cNvPr id="16" name="step num 3"/>
          <p:cNvSpPr txBox="1"/>
          <p:nvPr/>
        </p:nvSpPr>
        <p:spPr>
          <a:xfrm>
            <a:off x="3657600" y="16002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7" name="step head 3"/>
          <p:cNvSpPr txBox="1"/>
          <p:nvPr/>
        </p:nvSpPr>
        <p:spPr>
          <a:xfrm>
            <a:off x="3346704" y="2194560"/>
            <a:ext cx="1078992" cy="365760"/>
          </a:xfrm>
          <a:prstGeom prst="rect">
            <a:avLst/>
          </a:prstGeom>
          <a:noFill/>
          <a:ln/>
        </p:spPr>
        <p:txBody>
          <a:bodyPr wrap="square" lIns="0" tIns="0" rIns="0" bIns="0" rtlCol="0" anchor="ctr"/>
          <a:lstStyle/>
          <a:p>
            <a:pPr algn="ctr" indent="0" marL="0">
              <a:buNone/>
            </a:pPr>
            <a:r>
              <a:rPr lang="en-US" sz="1500" b="1" dirty="0">
                <a:solidFill>
                  <a:schemeClr val="tx2"/>
                </a:solidFill>
              </a:rPr>
              <a:t>Explore</a:t>
            </a:r>
            <a:endParaRPr lang="en-US" sz="1500" dirty="0"/>
          </a:p>
        </p:txBody>
      </p:sp>
      <p:sp>
        <p:nvSpPr>
          <p:cNvPr id="18" name="step text 3"/>
          <p:cNvSpPr txBox="1"/>
          <p:nvPr/>
        </p:nvSpPr>
        <p:spPr>
          <a:xfrm>
            <a:off x="3346704" y="2606040"/>
            <a:ext cx="1078992" cy="1097280"/>
          </a:xfrm>
          <a:prstGeom prst="rect">
            <a:avLst/>
          </a:prstGeom>
          <a:noFill/>
          <a:ln/>
        </p:spPr>
        <p:txBody>
          <a:bodyPr wrap="square" lIns="0" tIns="0" rIns="0" bIns="0" rtlCol="0" anchor="t"/>
          <a:lstStyle/>
          <a:p>
            <a:pPr algn="ctr" indent="0" marL="0">
              <a:buNone/>
            </a:pPr>
            <a:r>
              <a:rPr lang="en-US" sz="1100" dirty="0">
                <a:solidFill>
                  <a:schemeClr val="tx1"/>
                </a:solidFill>
              </a:rPr>
              <a:t>Category, city, age &amp; season comparisons</a:t>
            </a:r>
            <a:endParaRPr lang="en-US" sz="1100" dirty="0"/>
          </a:p>
        </p:txBody>
      </p:sp>
      <p:sp>
        <p:nvSpPr>
          <p:cNvPr id="19" name="step card 4"/>
          <p:cNvSpPr/>
          <p:nvPr/>
        </p:nvSpPr>
        <p:spPr>
          <a:xfrm>
            <a:off x="4654296" y="1417320"/>
            <a:ext cx="1261872" cy="2377440"/>
          </a:xfrm>
          <a:prstGeom prst="roundRect">
            <a:avLst>
              <a:gd name="adj" fmla="val 5797"/>
            </a:avLst>
          </a:prstGeom>
          <a:solidFill>
            <a:schemeClr val="bg2"/>
          </a:solidFill>
          <a:ln/>
        </p:spPr>
      </p:sp>
      <p:sp>
        <p:nvSpPr>
          <p:cNvPr id="20" name="step badge 4"/>
          <p:cNvSpPr/>
          <p:nvPr/>
        </p:nvSpPr>
        <p:spPr>
          <a:xfrm>
            <a:off x="5056632" y="1600200"/>
            <a:ext cx="457200" cy="457200"/>
          </a:xfrm>
          <a:prstGeom prst="ellipse">
            <a:avLst/>
          </a:prstGeom>
          <a:solidFill>
            <a:srgbClr val="2A78D6"/>
          </a:solidFill>
          <a:ln/>
        </p:spPr>
      </p:sp>
      <p:sp>
        <p:nvSpPr>
          <p:cNvPr id="21" name="step num 4"/>
          <p:cNvSpPr txBox="1"/>
          <p:nvPr/>
        </p:nvSpPr>
        <p:spPr>
          <a:xfrm>
            <a:off x="5056632" y="16002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22" name="step head 4"/>
          <p:cNvSpPr txBox="1"/>
          <p:nvPr/>
        </p:nvSpPr>
        <p:spPr>
          <a:xfrm>
            <a:off x="4745736" y="2194560"/>
            <a:ext cx="1078992" cy="365760"/>
          </a:xfrm>
          <a:prstGeom prst="rect">
            <a:avLst/>
          </a:prstGeom>
          <a:noFill/>
          <a:ln/>
        </p:spPr>
        <p:txBody>
          <a:bodyPr wrap="square" lIns="0" tIns="0" rIns="0" bIns="0" rtlCol="0" anchor="ctr"/>
          <a:lstStyle/>
          <a:p>
            <a:pPr algn="ctr" indent="0" marL="0">
              <a:buNone/>
            </a:pPr>
            <a:r>
              <a:rPr lang="en-US" sz="1500" b="1" dirty="0">
                <a:solidFill>
                  <a:schemeClr val="tx2"/>
                </a:solidFill>
              </a:rPr>
              <a:t>Test</a:t>
            </a:r>
            <a:endParaRPr lang="en-US" sz="1500" dirty="0"/>
          </a:p>
        </p:txBody>
      </p:sp>
      <p:sp>
        <p:nvSpPr>
          <p:cNvPr id="23" name="step text 4"/>
          <p:cNvSpPr txBox="1"/>
          <p:nvPr/>
        </p:nvSpPr>
        <p:spPr>
          <a:xfrm>
            <a:off x="4745736" y="2606040"/>
            <a:ext cx="1078992" cy="1097280"/>
          </a:xfrm>
          <a:prstGeom prst="rect">
            <a:avLst/>
          </a:prstGeom>
          <a:noFill/>
          <a:ln/>
        </p:spPr>
        <p:txBody>
          <a:bodyPr wrap="square" lIns="0" tIns="0" rIns="0" bIns="0" rtlCol="0" anchor="t"/>
          <a:lstStyle/>
          <a:p>
            <a:pPr algn="ctr" indent="0" marL="0">
              <a:buNone/>
            </a:pPr>
            <a:r>
              <a:rPr lang="en-US" sz="1100" dirty="0">
                <a:solidFill>
                  <a:schemeClr val="tx1"/>
                </a:solidFill>
              </a:rPr>
              <a:t>ANOVA, Kruskal-Wallis, chi-square</a:t>
            </a:r>
            <a:endParaRPr lang="en-US" sz="1100" dirty="0"/>
          </a:p>
        </p:txBody>
      </p:sp>
      <p:sp>
        <p:nvSpPr>
          <p:cNvPr id="24" name="step card 5"/>
          <p:cNvSpPr/>
          <p:nvPr/>
        </p:nvSpPr>
        <p:spPr>
          <a:xfrm>
            <a:off x="6053328" y="1417320"/>
            <a:ext cx="1261872" cy="2377440"/>
          </a:xfrm>
          <a:prstGeom prst="roundRect">
            <a:avLst>
              <a:gd name="adj" fmla="val 5797"/>
            </a:avLst>
          </a:prstGeom>
          <a:solidFill>
            <a:schemeClr val="bg2"/>
          </a:solidFill>
          <a:ln/>
        </p:spPr>
      </p:sp>
      <p:sp>
        <p:nvSpPr>
          <p:cNvPr id="25" name="step badge 5"/>
          <p:cNvSpPr/>
          <p:nvPr/>
        </p:nvSpPr>
        <p:spPr>
          <a:xfrm>
            <a:off x="6455664" y="1600200"/>
            <a:ext cx="457200" cy="457200"/>
          </a:xfrm>
          <a:prstGeom prst="ellipse">
            <a:avLst/>
          </a:prstGeom>
          <a:solidFill>
            <a:srgbClr val="1BAF7A"/>
          </a:solidFill>
          <a:ln/>
        </p:spPr>
      </p:sp>
      <p:sp>
        <p:nvSpPr>
          <p:cNvPr id="26" name="step num 5"/>
          <p:cNvSpPr txBox="1"/>
          <p:nvPr/>
        </p:nvSpPr>
        <p:spPr>
          <a:xfrm>
            <a:off x="6455664" y="16002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5</a:t>
            </a:r>
            <a:endParaRPr lang="en-US" sz="1600" dirty="0"/>
          </a:p>
        </p:txBody>
      </p:sp>
      <p:sp>
        <p:nvSpPr>
          <p:cNvPr id="27" name="step head 5"/>
          <p:cNvSpPr txBox="1"/>
          <p:nvPr/>
        </p:nvSpPr>
        <p:spPr>
          <a:xfrm>
            <a:off x="6144768" y="2194560"/>
            <a:ext cx="1078992" cy="365760"/>
          </a:xfrm>
          <a:prstGeom prst="rect">
            <a:avLst/>
          </a:prstGeom>
          <a:noFill/>
          <a:ln/>
        </p:spPr>
        <p:txBody>
          <a:bodyPr wrap="square" lIns="0" tIns="0" rIns="0" bIns="0" rtlCol="0" anchor="ctr"/>
          <a:lstStyle/>
          <a:p>
            <a:pPr algn="ctr" indent="0" marL="0">
              <a:buNone/>
            </a:pPr>
            <a:r>
              <a:rPr lang="en-US" sz="1500" b="1" dirty="0">
                <a:solidFill>
                  <a:schemeClr val="tx2"/>
                </a:solidFill>
              </a:rPr>
              <a:t>Cluster</a:t>
            </a:r>
            <a:endParaRPr lang="en-US" sz="1500" dirty="0"/>
          </a:p>
        </p:txBody>
      </p:sp>
      <p:sp>
        <p:nvSpPr>
          <p:cNvPr id="28" name="step text 5"/>
          <p:cNvSpPr txBox="1"/>
          <p:nvPr/>
        </p:nvSpPr>
        <p:spPr>
          <a:xfrm>
            <a:off x="6144768" y="2606040"/>
            <a:ext cx="1078992" cy="1097280"/>
          </a:xfrm>
          <a:prstGeom prst="rect">
            <a:avLst/>
          </a:prstGeom>
          <a:noFill/>
          <a:ln/>
        </p:spPr>
        <p:txBody>
          <a:bodyPr wrap="square" lIns="0" tIns="0" rIns="0" bIns="0" rtlCol="0" anchor="t"/>
          <a:lstStyle/>
          <a:p>
            <a:pPr algn="ctr" indent="0" marL="0">
              <a:buNone/>
            </a:pPr>
            <a:r>
              <a:rPr lang="en-US" sz="1100" dirty="0">
                <a:solidFill>
                  <a:schemeClr val="tx1"/>
                </a:solidFill>
              </a:rPr>
              <a:t>Scaled K-Means, elbow + silhouette, K = 4</a:t>
            </a:r>
            <a:endParaRPr lang="en-US" sz="1100" dirty="0"/>
          </a:p>
        </p:txBody>
      </p:sp>
      <p:sp>
        <p:nvSpPr>
          <p:cNvPr id="29" name="step card 6"/>
          <p:cNvSpPr/>
          <p:nvPr/>
        </p:nvSpPr>
        <p:spPr>
          <a:xfrm>
            <a:off x="7452360" y="1417320"/>
            <a:ext cx="1261872" cy="2377440"/>
          </a:xfrm>
          <a:prstGeom prst="roundRect">
            <a:avLst>
              <a:gd name="adj" fmla="val 5797"/>
            </a:avLst>
          </a:prstGeom>
          <a:solidFill>
            <a:schemeClr val="bg2"/>
          </a:solidFill>
          <a:ln/>
        </p:spPr>
      </p:sp>
      <p:sp>
        <p:nvSpPr>
          <p:cNvPr id="30" name="step badge 6"/>
          <p:cNvSpPr/>
          <p:nvPr/>
        </p:nvSpPr>
        <p:spPr>
          <a:xfrm>
            <a:off x="7854696" y="1600200"/>
            <a:ext cx="457200" cy="457200"/>
          </a:xfrm>
          <a:prstGeom prst="ellipse">
            <a:avLst/>
          </a:prstGeom>
          <a:solidFill>
            <a:srgbClr val="1BAF7A"/>
          </a:solidFill>
          <a:ln/>
        </p:spPr>
      </p:sp>
      <p:sp>
        <p:nvSpPr>
          <p:cNvPr id="31" name="step num 6"/>
          <p:cNvSpPr txBox="1"/>
          <p:nvPr/>
        </p:nvSpPr>
        <p:spPr>
          <a:xfrm>
            <a:off x="7854696" y="16002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6</a:t>
            </a:r>
            <a:endParaRPr lang="en-US" sz="1600" dirty="0"/>
          </a:p>
        </p:txBody>
      </p:sp>
      <p:sp>
        <p:nvSpPr>
          <p:cNvPr id="32" name="step head 6"/>
          <p:cNvSpPr txBox="1"/>
          <p:nvPr/>
        </p:nvSpPr>
        <p:spPr>
          <a:xfrm>
            <a:off x="7543800" y="2194560"/>
            <a:ext cx="1078992" cy="365760"/>
          </a:xfrm>
          <a:prstGeom prst="rect">
            <a:avLst/>
          </a:prstGeom>
          <a:noFill/>
          <a:ln/>
        </p:spPr>
        <p:txBody>
          <a:bodyPr wrap="square" lIns="0" tIns="0" rIns="0" bIns="0" rtlCol="0" anchor="ctr"/>
          <a:lstStyle/>
          <a:p>
            <a:pPr algn="ctr" indent="0" marL="0">
              <a:buNone/>
            </a:pPr>
            <a:r>
              <a:rPr lang="en-US" sz="1500" b="1" dirty="0">
                <a:solidFill>
                  <a:schemeClr val="tx2"/>
                </a:solidFill>
              </a:rPr>
              <a:t>Act</a:t>
            </a:r>
            <a:endParaRPr lang="en-US" sz="1500" dirty="0"/>
          </a:p>
        </p:txBody>
      </p:sp>
      <p:sp>
        <p:nvSpPr>
          <p:cNvPr id="33" name="step text 6"/>
          <p:cNvSpPr txBox="1"/>
          <p:nvPr/>
        </p:nvSpPr>
        <p:spPr>
          <a:xfrm>
            <a:off x="7543800" y="2606040"/>
            <a:ext cx="1078992" cy="1097280"/>
          </a:xfrm>
          <a:prstGeom prst="rect">
            <a:avLst/>
          </a:prstGeom>
          <a:noFill/>
          <a:ln/>
        </p:spPr>
        <p:txBody>
          <a:bodyPr wrap="square" lIns="0" tIns="0" rIns="0" bIns="0" rtlCol="0" anchor="t"/>
          <a:lstStyle/>
          <a:p>
            <a:pPr algn="ctr" indent="0" marL="0">
              <a:buNone/>
            </a:pPr>
            <a:r>
              <a:rPr lang="en-US" sz="1100" dirty="0">
                <a:solidFill>
                  <a:schemeClr val="tx1"/>
                </a:solidFill>
              </a:rPr>
              <a:t>Random-Forest drivers → campaigns</a:t>
            </a:r>
            <a:endParaRPr lang="en-US" sz="1100" dirty="0"/>
          </a:p>
        </p:txBody>
      </p:sp>
      <p:sp>
        <p:nvSpPr>
          <p:cNvPr id="34" name="tools"/>
          <p:cNvSpPr txBox="1"/>
          <p:nvPr/>
        </p:nvSpPr>
        <p:spPr>
          <a:xfrm>
            <a:off x="457200" y="4069080"/>
            <a:ext cx="8229600" cy="365760"/>
          </a:xfrm>
          <a:prstGeom prst="rect">
            <a:avLst/>
          </a:prstGeom>
          <a:noFill/>
          <a:ln/>
        </p:spPr>
        <p:txBody>
          <a:bodyPr wrap="square" lIns="0" tIns="0" rIns="0" bIns="0" rtlCol="0" anchor="ctr"/>
          <a:lstStyle/>
          <a:p>
            <a:pPr indent="0" marL="0">
              <a:buNone/>
            </a:pPr>
            <a:r>
              <a:rPr lang="en-US" sz="1200" dirty="0">
                <a:solidFill>
                  <a:schemeClr val="tx1">
                    <a:alpha val="75000"/>
                  </a:schemeClr>
                </a:solidFill>
              </a:rPr>
              <a:t>Tools: Python · pandas · scikit-learn · SciPy · matplotlib/seaborn · Google Colab</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878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960120"/>
            <a:ext cx="8046720" cy="1600200"/>
          </a:xfrm>
          <a:prstGeom prst="rect">
            <a:avLst/>
          </a:prstGeom>
          <a:noFill/>
          <a:ln/>
        </p:spPr>
        <p:txBody>
          <a:bodyPr wrap="square" lIns="0" tIns="0" rIns="0" bIns="0" rtlCol="0" anchor="b"/>
          <a:lstStyle/>
          <a:p>
            <a:pPr algn="l" indent="0" marL="0">
              <a:buNone/>
            </a:pPr>
            <a:r>
              <a:rPr lang="en-US" sz="3400" b="1" dirty="0">
                <a:solidFill>
                  <a:schemeClr val="bg1"/>
                </a:solidFill>
                <a:latin typeface="Cambria" pitchFamily="34" charset="0"/>
                <a:ea typeface="Cambria" pitchFamily="34" charset="-122"/>
                <a:cs typeface="Cambria" pitchFamily="34" charset="-120"/>
              </a:rPr>
              <a:t>Task 1 · Where should discounts be applied?</a:t>
            </a:r>
            <a:endParaRPr lang="en-US" sz="3400" dirty="0"/>
          </a:p>
        </p:txBody>
      </p:sp>
      <p:sp>
        <p:nvSpPr>
          <p:cNvPr id="3" name="Text 0"/>
          <p:cNvSpPr/>
          <p:nvPr>
            <p:ph idx="101" type="body" hasCustomPrompt="1"/>
          </p:nvPr>
        </p:nvSpPr>
        <p:spPr>
          <a:xfrm>
            <a:off x="548640" y="2743200"/>
            <a:ext cx="8046720" cy="731520"/>
          </a:xfrm>
          <a:prstGeom prst="rect">
            <a:avLst/>
          </a:prstGeom>
          <a:noFill/>
          <a:ln/>
        </p:spPr>
        <p:txBody>
          <a:bodyPr wrap="square" lIns="0" tIns="0" rIns="0" bIns="0" rtlCol="0" anchor="t"/>
          <a:lstStyle/>
          <a:p>
            <a:pPr algn="l" indent="0" marL="0">
              <a:buNone/>
            </a:pPr>
            <a:r>
              <a:rPr lang="en-US" sz="1600" dirty="0">
                <a:solidFill>
                  <a:srgbClr val="CADCFC"/>
                </a:solidFill>
              </a:rPr>
              <a:t>Comparing five categories on revenue, ratings, loyalty and discount response</a:t>
            </a:r>
            <a:endParaRPr lang="en-US" sz="16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Discounts lift baskets only in Clothing</a:t>
            </a:r>
            <a:endParaRPr lang="en-US" sz="2600" dirty="0"/>
          </a:p>
        </p:txBody>
      </p:sp>
      <p:graphicFrame>
        <p:nvGraphicFramePr>
          <p:cNvPr id="4" name="chart discount vs no discount" descr=""/>
          <p:cNvGraphicFramePr/>
          <p:nvPr/>
        </p:nvGraphicFramePr>
        <p:xfrm>
          <a:off x="365760" y="960120"/>
          <a:ext cx="5394960" cy="3611880"/>
        </p:xfrm>
        <a:graphic xmlns:a="http://schemas.openxmlformats.org/drawingml/2006/main">
          <a:graphicData uri="http://schemas.openxmlformats.org/drawingml/2006/chart">
            <c:chart xmlns:c="http://schemas.openxmlformats.org/drawingml/2006/chart" r:id="rId1"/>
          </a:graphicData>
        </a:graphic>
      </p:graphicFrame>
      <p:sp>
        <p:nvSpPr>
          <p:cNvPr id="5" name="ratio header"/>
          <p:cNvSpPr txBox="1"/>
          <p:nvPr/>
        </p:nvSpPr>
        <p:spPr>
          <a:xfrm>
            <a:off x="6035040" y="1005840"/>
            <a:ext cx="2743200" cy="320040"/>
          </a:xfrm>
          <a:prstGeom prst="rect">
            <a:avLst/>
          </a:prstGeom>
          <a:noFill/>
          <a:ln/>
        </p:spPr>
        <p:txBody>
          <a:bodyPr wrap="square" lIns="0" tIns="0" rIns="0" bIns="0" rtlCol="0" anchor="ctr"/>
          <a:lstStyle/>
          <a:p>
            <a:pPr indent="0" marL="0">
              <a:buNone/>
            </a:pPr>
            <a:r>
              <a:rPr lang="en-US" sz="1300" b="1" dirty="0">
                <a:solidFill>
                  <a:schemeClr val="tx2"/>
                </a:solidFill>
              </a:rPr>
              <a:t>Discounted ÷ full-price order value</a:t>
            </a:r>
            <a:endParaRPr lang="en-US" sz="1300" dirty="0"/>
          </a:p>
        </p:txBody>
      </p:sp>
      <p:sp>
        <p:nvSpPr>
          <p:cNvPr id="6" name="ratio card 0"/>
          <p:cNvSpPr/>
          <p:nvPr/>
        </p:nvSpPr>
        <p:spPr>
          <a:xfrm>
            <a:off x="6035040" y="1417320"/>
            <a:ext cx="2743200" cy="676656"/>
          </a:xfrm>
          <a:prstGeom prst="roundRect">
            <a:avLst>
              <a:gd name="adj" fmla="val 10811"/>
            </a:avLst>
          </a:prstGeom>
          <a:solidFill>
            <a:schemeClr val="bg2"/>
          </a:solidFill>
          <a:ln/>
        </p:spPr>
      </p:sp>
      <p:sp>
        <p:nvSpPr>
          <p:cNvPr id="7" name="ratio val 0"/>
          <p:cNvSpPr txBox="1"/>
          <p:nvPr/>
        </p:nvSpPr>
        <p:spPr>
          <a:xfrm>
            <a:off x="6172200" y="1417320"/>
            <a:ext cx="1005840" cy="676656"/>
          </a:xfrm>
          <a:prstGeom prst="rect">
            <a:avLst/>
          </a:prstGeom>
          <a:noFill/>
          <a:ln/>
        </p:spPr>
        <p:txBody>
          <a:bodyPr wrap="square" lIns="0" tIns="0" rIns="0" bIns="0" rtlCol="0" anchor="ctr"/>
          <a:lstStyle/>
          <a:p>
            <a:pPr indent="0" marL="0">
              <a:buNone/>
            </a:pPr>
            <a:r>
              <a:rPr lang="en-US" sz="2000" b="1" dirty="0">
                <a:solidFill>
                  <a:srgbClr val="0A7F0A"/>
                </a:solidFill>
              </a:rPr>
              <a:t>×1.065</a:t>
            </a:r>
            <a:endParaRPr lang="en-US" sz="2000" dirty="0"/>
          </a:p>
        </p:txBody>
      </p:sp>
      <p:sp>
        <p:nvSpPr>
          <p:cNvPr id="8" name="ratio label 0"/>
          <p:cNvSpPr txBox="1"/>
          <p:nvPr/>
        </p:nvSpPr>
        <p:spPr>
          <a:xfrm>
            <a:off x="7178040" y="1417320"/>
            <a:ext cx="1554480" cy="676656"/>
          </a:xfrm>
          <a:prstGeom prst="rect">
            <a:avLst/>
          </a:prstGeom>
          <a:noFill/>
          <a:ln/>
        </p:spPr>
        <p:txBody>
          <a:bodyPr wrap="square" lIns="0" tIns="0" rIns="0" bIns="0" rtlCol="0" anchor="ctr"/>
          <a:lstStyle/>
          <a:p>
            <a:pPr indent="0" marL="0">
              <a:buNone/>
            </a:pPr>
            <a:r>
              <a:rPr lang="en-US" sz="1200" b="1" dirty="0">
                <a:solidFill>
                  <a:schemeClr val="tx1"/>
                </a:solidFill>
              </a:rPr>
              <a:t>Clothing</a:t>
            </a:r>
            <a:endParaRPr lang="en-US" sz="1200" dirty="0"/>
          </a:p>
          <a:p>
            <a:pPr indent="0" marL="0">
              <a:buNone/>
            </a:pPr>
            <a:r>
              <a:rPr lang="en-US" sz="1200" dirty="0">
                <a:solidFill>
                  <a:srgbClr val="52514E"/>
                </a:solidFill>
              </a:rPr>
              <a:t>Basket grows</a:t>
            </a:r>
            <a:endParaRPr lang="en-US" sz="1200" dirty="0"/>
          </a:p>
        </p:txBody>
      </p:sp>
      <p:sp>
        <p:nvSpPr>
          <p:cNvPr id="9" name="ratio card 1"/>
          <p:cNvSpPr/>
          <p:nvPr/>
        </p:nvSpPr>
        <p:spPr>
          <a:xfrm>
            <a:off x="6035040" y="2203704"/>
            <a:ext cx="2743200" cy="676656"/>
          </a:xfrm>
          <a:prstGeom prst="roundRect">
            <a:avLst>
              <a:gd name="adj" fmla="val 10811"/>
            </a:avLst>
          </a:prstGeom>
          <a:solidFill>
            <a:schemeClr val="bg2"/>
          </a:solidFill>
          <a:ln/>
        </p:spPr>
      </p:sp>
      <p:sp>
        <p:nvSpPr>
          <p:cNvPr id="10" name="ratio val 1"/>
          <p:cNvSpPr txBox="1"/>
          <p:nvPr/>
        </p:nvSpPr>
        <p:spPr>
          <a:xfrm>
            <a:off x="6172200" y="2203704"/>
            <a:ext cx="1005840" cy="676656"/>
          </a:xfrm>
          <a:prstGeom prst="rect">
            <a:avLst/>
          </a:prstGeom>
          <a:noFill/>
          <a:ln/>
        </p:spPr>
        <p:txBody>
          <a:bodyPr wrap="square" lIns="0" tIns="0" rIns="0" bIns="0" rtlCol="0" anchor="ctr"/>
          <a:lstStyle/>
          <a:p>
            <a:pPr indent="0" marL="0">
              <a:buNone/>
            </a:pPr>
            <a:r>
              <a:rPr lang="en-US" sz="2000" b="1" dirty="0">
                <a:solidFill>
                  <a:srgbClr val="52514E"/>
                </a:solidFill>
              </a:rPr>
              <a:t>×0.993</a:t>
            </a:r>
            <a:endParaRPr lang="en-US" sz="2000" dirty="0"/>
          </a:p>
        </p:txBody>
      </p:sp>
      <p:sp>
        <p:nvSpPr>
          <p:cNvPr id="11" name="ratio label 1"/>
          <p:cNvSpPr txBox="1"/>
          <p:nvPr/>
        </p:nvSpPr>
        <p:spPr>
          <a:xfrm>
            <a:off x="7178040" y="2203704"/>
            <a:ext cx="1554480" cy="676656"/>
          </a:xfrm>
          <a:prstGeom prst="rect">
            <a:avLst/>
          </a:prstGeom>
          <a:noFill/>
          <a:ln/>
        </p:spPr>
        <p:txBody>
          <a:bodyPr wrap="square" lIns="0" tIns="0" rIns="0" bIns="0" rtlCol="0" anchor="ctr"/>
          <a:lstStyle/>
          <a:p>
            <a:pPr indent="0" marL="0">
              <a:buNone/>
            </a:pPr>
            <a:r>
              <a:rPr lang="en-US" sz="1200" b="1" dirty="0">
                <a:solidFill>
                  <a:schemeClr val="tx1"/>
                </a:solidFill>
              </a:rPr>
              <a:t>Sports</a:t>
            </a:r>
            <a:endParaRPr lang="en-US" sz="1200" dirty="0"/>
          </a:p>
          <a:p>
            <a:pPr indent="0" marL="0">
              <a:buNone/>
            </a:pPr>
            <a:r>
              <a:rPr lang="en-US" sz="1200" dirty="0">
                <a:solidFill>
                  <a:srgbClr val="52514E"/>
                </a:solidFill>
              </a:rPr>
              <a:t>Holds steady</a:t>
            </a:r>
            <a:endParaRPr lang="en-US" sz="1200" dirty="0"/>
          </a:p>
        </p:txBody>
      </p:sp>
      <p:sp>
        <p:nvSpPr>
          <p:cNvPr id="12" name="ratio card 2"/>
          <p:cNvSpPr/>
          <p:nvPr/>
        </p:nvSpPr>
        <p:spPr>
          <a:xfrm>
            <a:off x="6035040" y="2990088"/>
            <a:ext cx="2743200" cy="676656"/>
          </a:xfrm>
          <a:prstGeom prst="roundRect">
            <a:avLst>
              <a:gd name="adj" fmla="val 10811"/>
            </a:avLst>
          </a:prstGeom>
          <a:solidFill>
            <a:schemeClr val="bg2"/>
          </a:solidFill>
          <a:ln/>
        </p:spPr>
      </p:sp>
      <p:sp>
        <p:nvSpPr>
          <p:cNvPr id="13" name="ratio val 2"/>
          <p:cNvSpPr txBox="1"/>
          <p:nvPr/>
        </p:nvSpPr>
        <p:spPr>
          <a:xfrm>
            <a:off x="6172200" y="2990088"/>
            <a:ext cx="1005840" cy="676656"/>
          </a:xfrm>
          <a:prstGeom prst="rect">
            <a:avLst/>
          </a:prstGeom>
          <a:noFill/>
          <a:ln/>
        </p:spPr>
        <p:txBody>
          <a:bodyPr wrap="square" lIns="0" tIns="0" rIns="0" bIns="0" rtlCol="0" anchor="ctr"/>
          <a:lstStyle/>
          <a:p>
            <a:pPr indent="0" marL="0">
              <a:buNone/>
            </a:pPr>
            <a:r>
              <a:rPr lang="en-US" sz="2000" b="1" dirty="0">
                <a:solidFill>
                  <a:srgbClr val="52514E"/>
                </a:solidFill>
              </a:rPr>
              <a:t>×0.987</a:t>
            </a:r>
            <a:endParaRPr lang="en-US" sz="2000" dirty="0"/>
          </a:p>
        </p:txBody>
      </p:sp>
      <p:sp>
        <p:nvSpPr>
          <p:cNvPr id="14" name="ratio label 2"/>
          <p:cNvSpPr txBox="1"/>
          <p:nvPr/>
        </p:nvSpPr>
        <p:spPr>
          <a:xfrm>
            <a:off x="7178040" y="2990088"/>
            <a:ext cx="1554480" cy="676656"/>
          </a:xfrm>
          <a:prstGeom prst="rect">
            <a:avLst/>
          </a:prstGeom>
          <a:noFill/>
          <a:ln/>
        </p:spPr>
        <p:txBody>
          <a:bodyPr wrap="square" lIns="0" tIns="0" rIns="0" bIns="0" rtlCol="0" anchor="ctr"/>
          <a:lstStyle/>
          <a:p>
            <a:pPr indent="0" marL="0">
              <a:buNone/>
            </a:pPr>
            <a:r>
              <a:rPr lang="en-US" sz="1200" b="1" dirty="0">
                <a:solidFill>
                  <a:schemeClr val="tx1"/>
                </a:solidFill>
              </a:rPr>
              <a:t>Accessories / Electronics</a:t>
            </a:r>
            <a:endParaRPr lang="en-US" sz="1200" dirty="0"/>
          </a:p>
          <a:p>
            <a:pPr indent="0" marL="0">
              <a:buNone/>
            </a:pPr>
            <a:r>
              <a:rPr lang="en-US" sz="1200" dirty="0">
                <a:solidFill>
                  <a:srgbClr val="52514E"/>
                </a:solidFill>
              </a:rPr>
              <a:t>Holds steady</a:t>
            </a:r>
            <a:endParaRPr lang="en-US" sz="1200" dirty="0"/>
          </a:p>
        </p:txBody>
      </p:sp>
      <p:sp>
        <p:nvSpPr>
          <p:cNvPr id="15" name="ratio card 3"/>
          <p:cNvSpPr/>
          <p:nvPr/>
        </p:nvSpPr>
        <p:spPr>
          <a:xfrm>
            <a:off x="6035040" y="3776472"/>
            <a:ext cx="2743200" cy="676656"/>
          </a:xfrm>
          <a:prstGeom prst="roundRect">
            <a:avLst>
              <a:gd name="adj" fmla="val 10811"/>
            </a:avLst>
          </a:prstGeom>
          <a:solidFill>
            <a:schemeClr val="bg2"/>
          </a:solidFill>
          <a:ln/>
        </p:spPr>
      </p:sp>
      <p:sp>
        <p:nvSpPr>
          <p:cNvPr id="16" name="ratio val 3"/>
          <p:cNvSpPr txBox="1"/>
          <p:nvPr/>
        </p:nvSpPr>
        <p:spPr>
          <a:xfrm>
            <a:off x="6172200" y="3776472"/>
            <a:ext cx="1005840" cy="676656"/>
          </a:xfrm>
          <a:prstGeom prst="rect">
            <a:avLst/>
          </a:prstGeom>
          <a:noFill/>
          <a:ln/>
        </p:spPr>
        <p:txBody>
          <a:bodyPr wrap="square" lIns="0" tIns="0" rIns="0" bIns="0" rtlCol="0" anchor="ctr"/>
          <a:lstStyle/>
          <a:p>
            <a:pPr indent="0" marL="0">
              <a:buNone/>
            </a:pPr>
            <a:r>
              <a:rPr lang="en-US" sz="2000" b="1" dirty="0">
                <a:solidFill>
                  <a:srgbClr val="D03B3B"/>
                </a:solidFill>
              </a:rPr>
              <a:t>×0.954</a:t>
            </a:r>
            <a:endParaRPr lang="en-US" sz="2000" dirty="0"/>
          </a:p>
        </p:txBody>
      </p:sp>
      <p:sp>
        <p:nvSpPr>
          <p:cNvPr id="17" name="ratio label 3"/>
          <p:cNvSpPr txBox="1"/>
          <p:nvPr/>
        </p:nvSpPr>
        <p:spPr>
          <a:xfrm>
            <a:off x="7178040" y="3776472"/>
            <a:ext cx="1554480" cy="676656"/>
          </a:xfrm>
          <a:prstGeom prst="rect">
            <a:avLst/>
          </a:prstGeom>
          <a:noFill/>
          <a:ln/>
        </p:spPr>
        <p:txBody>
          <a:bodyPr wrap="square" lIns="0" tIns="0" rIns="0" bIns="0" rtlCol="0" anchor="ctr"/>
          <a:lstStyle/>
          <a:p>
            <a:pPr indent="0" marL="0">
              <a:buNone/>
            </a:pPr>
            <a:r>
              <a:rPr lang="en-US" sz="1200" b="1" dirty="0">
                <a:solidFill>
                  <a:schemeClr val="tx1"/>
                </a:solidFill>
              </a:rPr>
              <a:t>Home Decor</a:t>
            </a:r>
            <a:endParaRPr lang="en-US" sz="1200" dirty="0"/>
          </a:p>
          <a:p>
            <a:pPr indent="0" marL="0">
              <a:buNone/>
            </a:pPr>
            <a:r>
              <a:rPr lang="en-US" sz="1200" dirty="0">
                <a:solidFill>
                  <a:srgbClr val="52514E"/>
                </a:solidFill>
              </a:rPr>
              <a:t>Basket shrinks</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878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Recommendation: discount Sports, bundle Clothing</a:t>
            </a:r>
            <a:endParaRPr lang="en-US" sz="2600" dirty="0"/>
          </a:p>
        </p:txBody>
      </p:sp>
      <p:graphicFrame>
        <p:nvGraphicFramePr>
          <p:cNvPr id="4" name="chart priority score" descr=""/>
          <p:cNvGraphicFramePr/>
          <p:nvPr/>
        </p:nvGraphicFramePr>
        <p:xfrm>
          <a:off x="365760" y="960120"/>
          <a:ext cx="4023360" cy="3611880"/>
        </p:xfrm>
        <a:graphic xmlns:a="http://schemas.openxmlformats.org/drawingml/2006/main">
          <a:graphicData uri="http://schemas.openxmlformats.org/drawingml/2006/chart">
            <c:chart xmlns:c="http://schemas.openxmlformats.org/drawingml/2006/chart" r:id="rId1"/>
          </a:graphicData>
        </a:graphic>
      </p:graphicFrame>
      <p:sp>
        <p:nvSpPr>
          <p:cNvPr id="5" name="rec card 0"/>
          <p:cNvSpPr/>
          <p:nvPr/>
        </p:nvSpPr>
        <p:spPr>
          <a:xfrm>
            <a:off x="4663440" y="1005840"/>
            <a:ext cx="4114800" cy="1051560"/>
          </a:xfrm>
          <a:prstGeom prst="roundRect">
            <a:avLst>
              <a:gd name="adj" fmla="val 6957"/>
            </a:avLst>
          </a:prstGeom>
          <a:solidFill>
            <a:schemeClr val="bg2"/>
          </a:solidFill>
          <a:ln/>
        </p:spPr>
      </p:sp>
      <p:sp>
        <p:nvSpPr>
          <p:cNvPr id="6" name="rec tag bg 0"/>
          <p:cNvSpPr/>
          <p:nvPr/>
        </p:nvSpPr>
        <p:spPr>
          <a:xfrm>
            <a:off x="4800600" y="1161288"/>
            <a:ext cx="914400" cy="329184"/>
          </a:xfrm>
          <a:prstGeom prst="roundRect">
            <a:avLst>
              <a:gd name="adj" fmla="val 16667"/>
            </a:avLst>
          </a:prstGeom>
          <a:solidFill>
            <a:srgbClr val="EB6834"/>
          </a:solidFill>
          <a:ln/>
        </p:spPr>
      </p:sp>
      <p:sp>
        <p:nvSpPr>
          <p:cNvPr id="7" name="rec tag 0"/>
          <p:cNvSpPr txBox="1"/>
          <p:nvPr/>
        </p:nvSpPr>
        <p:spPr>
          <a:xfrm>
            <a:off x="4800600" y="1161288"/>
            <a:ext cx="914400" cy="329184"/>
          </a:xfrm>
          <a:prstGeom prst="rect">
            <a:avLst/>
          </a:prstGeom>
          <a:noFill/>
          <a:ln/>
        </p:spPr>
        <p:txBody>
          <a:bodyPr wrap="square" lIns="0" tIns="0" rIns="0" bIns="0" rtlCol="0" anchor="ctr"/>
          <a:lstStyle/>
          <a:p>
            <a:pPr algn="ctr" indent="0" marL="0">
              <a:buNone/>
            </a:pPr>
            <a:r>
              <a:rPr lang="en-US" sz="1200" b="1" dirty="0">
                <a:solidFill>
                  <a:srgbClr val="FFFFFF"/>
                </a:solidFill>
              </a:rPr>
              <a:t>Discount</a:t>
            </a:r>
            <a:endParaRPr lang="en-US" sz="1200" dirty="0"/>
          </a:p>
        </p:txBody>
      </p:sp>
      <p:sp>
        <p:nvSpPr>
          <p:cNvPr id="8" name="rec cat 0"/>
          <p:cNvSpPr txBox="1"/>
          <p:nvPr/>
        </p:nvSpPr>
        <p:spPr>
          <a:xfrm>
            <a:off x="5852160" y="1115568"/>
            <a:ext cx="2834640" cy="411480"/>
          </a:xfrm>
          <a:prstGeom prst="rect">
            <a:avLst/>
          </a:prstGeom>
          <a:noFill/>
          <a:ln/>
        </p:spPr>
        <p:txBody>
          <a:bodyPr wrap="square" lIns="0" tIns="0" rIns="0" bIns="0" rtlCol="0" anchor="ctr"/>
          <a:lstStyle/>
          <a:p>
            <a:pPr indent="0" marL="0">
              <a:buNone/>
            </a:pPr>
            <a:r>
              <a:rPr lang="en-US" sz="1600" b="1" dirty="0">
                <a:solidFill>
                  <a:schemeClr val="tx2"/>
                </a:solidFill>
              </a:rPr>
              <a:t>Sports</a:t>
            </a:r>
            <a:endParaRPr lang="en-US" sz="1600" dirty="0"/>
          </a:p>
        </p:txBody>
      </p:sp>
      <p:sp>
        <p:nvSpPr>
          <p:cNvPr id="9" name="rec text 0"/>
          <p:cNvSpPr txBox="1"/>
          <p:nvPr/>
        </p:nvSpPr>
        <p:spPr>
          <a:xfrm>
            <a:off x="4800600" y="1536192"/>
            <a:ext cx="3886200" cy="475488"/>
          </a:xfrm>
          <a:prstGeom prst="rect">
            <a:avLst/>
          </a:prstGeom>
          <a:noFill/>
          <a:ln/>
        </p:spPr>
        <p:txBody>
          <a:bodyPr wrap="square" lIns="0" tIns="0" rIns="0" bIns="0" rtlCol="0" anchor="t"/>
          <a:lstStyle/>
          <a:p>
            <a:pPr indent="0" marL="0">
              <a:buNone/>
            </a:pPr>
            <a:r>
              <a:rPr lang="en-US" sz="1150" dirty="0">
                <a:solidFill>
                  <a:schemeClr val="tx1"/>
                </a:solidFill>
              </a:rPr>
              <a:t>Lowest revenue (19.0%) and fewest subscribers (46.8%), but the best rating (3.08). Price is the barrier.</a:t>
            </a:r>
            <a:endParaRPr lang="en-US" sz="1150" dirty="0"/>
          </a:p>
        </p:txBody>
      </p:sp>
      <p:sp>
        <p:nvSpPr>
          <p:cNvPr id="10" name="rec card 1"/>
          <p:cNvSpPr/>
          <p:nvPr/>
        </p:nvSpPr>
        <p:spPr>
          <a:xfrm>
            <a:off x="4663440" y="2194560"/>
            <a:ext cx="4114800" cy="1051560"/>
          </a:xfrm>
          <a:prstGeom prst="roundRect">
            <a:avLst>
              <a:gd name="adj" fmla="val 6957"/>
            </a:avLst>
          </a:prstGeom>
          <a:solidFill>
            <a:schemeClr val="bg2"/>
          </a:solidFill>
          <a:ln/>
        </p:spPr>
      </p:sp>
      <p:sp>
        <p:nvSpPr>
          <p:cNvPr id="11" name="rec tag bg 1"/>
          <p:cNvSpPr/>
          <p:nvPr/>
        </p:nvSpPr>
        <p:spPr>
          <a:xfrm>
            <a:off x="4800600" y="2350008"/>
            <a:ext cx="914400" cy="329184"/>
          </a:xfrm>
          <a:prstGeom prst="roundRect">
            <a:avLst>
              <a:gd name="adj" fmla="val 16667"/>
            </a:avLst>
          </a:prstGeom>
          <a:solidFill>
            <a:srgbClr val="2A78D6"/>
          </a:solidFill>
          <a:ln/>
        </p:spPr>
      </p:sp>
      <p:sp>
        <p:nvSpPr>
          <p:cNvPr id="12" name="rec tag 1"/>
          <p:cNvSpPr txBox="1"/>
          <p:nvPr/>
        </p:nvSpPr>
        <p:spPr>
          <a:xfrm>
            <a:off x="4800600" y="2350008"/>
            <a:ext cx="914400" cy="329184"/>
          </a:xfrm>
          <a:prstGeom prst="rect">
            <a:avLst/>
          </a:prstGeom>
          <a:noFill/>
          <a:ln/>
        </p:spPr>
        <p:txBody>
          <a:bodyPr wrap="square" lIns="0" tIns="0" rIns="0" bIns="0" rtlCol="0" anchor="ctr"/>
          <a:lstStyle/>
          <a:p>
            <a:pPr algn="ctr" indent="0" marL="0">
              <a:buNone/>
            </a:pPr>
            <a:r>
              <a:rPr lang="en-US" sz="1200" b="1" dirty="0">
                <a:solidFill>
                  <a:srgbClr val="FFFFFF"/>
                </a:solidFill>
              </a:rPr>
              <a:t>Bundle</a:t>
            </a:r>
            <a:endParaRPr lang="en-US" sz="1200" dirty="0"/>
          </a:p>
        </p:txBody>
      </p:sp>
      <p:sp>
        <p:nvSpPr>
          <p:cNvPr id="13" name="rec cat 1"/>
          <p:cNvSpPr txBox="1"/>
          <p:nvPr/>
        </p:nvSpPr>
        <p:spPr>
          <a:xfrm>
            <a:off x="5852160" y="2304288"/>
            <a:ext cx="2834640" cy="411480"/>
          </a:xfrm>
          <a:prstGeom prst="rect">
            <a:avLst/>
          </a:prstGeom>
          <a:noFill/>
          <a:ln/>
        </p:spPr>
        <p:txBody>
          <a:bodyPr wrap="square" lIns="0" tIns="0" rIns="0" bIns="0" rtlCol="0" anchor="ctr"/>
          <a:lstStyle/>
          <a:p>
            <a:pPr indent="0" marL="0">
              <a:buNone/>
            </a:pPr>
            <a:r>
              <a:rPr lang="en-US" sz="1600" b="1" dirty="0">
                <a:solidFill>
                  <a:schemeClr val="tx2"/>
                </a:solidFill>
              </a:rPr>
              <a:t>Clothing</a:t>
            </a:r>
            <a:endParaRPr lang="en-US" sz="1600" dirty="0"/>
          </a:p>
        </p:txBody>
      </p:sp>
      <p:sp>
        <p:nvSpPr>
          <p:cNvPr id="14" name="rec text 1"/>
          <p:cNvSpPr txBox="1"/>
          <p:nvPr/>
        </p:nvSpPr>
        <p:spPr>
          <a:xfrm>
            <a:off x="4800600" y="2724912"/>
            <a:ext cx="3886200" cy="475488"/>
          </a:xfrm>
          <a:prstGeom prst="rect">
            <a:avLst/>
          </a:prstGeom>
          <a:noFill/>
          <a:ln/>
        </p:spPr>
        <p:txBody>
          <a:bodyPr wrap="square" lIns="0" tIns="0" rIns="0" bIns="0" rtlCol="0" anchor="t"/>
          <a:lstStyle/>
          <a:p>
            <a:pPr indent="0" marL="0">
              <a:buNone/>
            </a:pPr>
            <a:r>
              <a:rPr lang="en-US" sz="1150" dirty="0">
                <a:solidFill>
                  <a:schemeClr val="tx1"/>
                </a:solidFill>
              </a:rPr>
              <a:t>Discounted baskets are 6.5% bigger. Use “10% off over $300” tiers, not blanket cuts.</a:t>
            </a:r>
            <a:endParaRPr lang="en-US" sz="1150" dirty="0"/>
          </a:p>
        </p:txBody>
      </p:sp>
      <p:sp>
        <p:nvSpPr>
          <p:cNvPr id="15" name="rec card 2"/>
          <p:cNvSpPr/>
          <p:nvPr/>
        </p:nvSpPr>
        <p:spPr>
          <a:xfrm>
            <a:off x="4663440" y="3383280"/>
            <a:ext cx="4114800" cy="1051560"/>
          </a:xfrm>
          <a:prstGeom prst="roundRect">
            <a:avLst>
              <a:gd name="adj" fmla="val 6957"/>
            </a:avLst>
          </a:prstGeom>
          <a:solidFill>
            <a:schemeClr val="bg2"/>
          </a:solidFill>
          <a:ln/>
        </p:spPr>
      </p:sp>
      <p:sp>
        <p:nvSpPr>
          <p:cNvPr id="16" name="rec tag bg 2"/>
          <p:cNvSpPr/>
          <p:nvPr/>
        </p:nvSpPr>
        <p:spPr>
          <a:xfrm>
            <a:off x="4800600" y="3538728"/>
            <a:ext cx="914400" cy="329184"/>
          </a:xfrm>
          <a:prstGeom prst="roundRect">
            <a:avLst>
              <a:gd name="adj" fmla="val 16667"/>
            </a:avLst>
          </a:prstGeom>
          <a:solidFill>
            <a:srgbClr val="D03B3B"/>
          </a:solidFill>
          <a:ln/>
        </p:spPr>
      </p:sp>
      <p:sp>
        <p:nvSpPr>
          <p:cNvPr id="17" name="rec tag 2"/>
          <p:cNvSpPr txBox="1"/>
          <p:nvPr/>
        </p:nvSpPr>
        <p:spPr>
          <a:xfrm>
            <a:off x="4800600" y="3538728"/>
            <a:ext cx="914400" cy="329184"/>
          </a:xfrm>
          <a:prstGeom prst="rect">
            <a:avLst/>
          </a:prstGeom>
          <a:noFill/>
          <a:ln/>
        </p:spPr>
        <p:txBody>
          <a:bodyPr wrap="square" lIns="0" tIns="0" rIns="0" bIns="0" rtlCol="0" anchor="ctr"/>
          <a:lstStyle/>
          <a:p>
            <a:pPr algn="ctr" indent="0" marL="0">
              <a:buNone/>
            </a:pPr>
            <a:r>
              <a:rPr lang="en-US" sz="1200" b="1" dirty="0">
                <a:solidFill>
                  <a:srgbClr val="FFFFFF"/>
                </a:solidFill>
              </a:rPr>
              <a:t>Avoid</a:t>
            </a:r>
            <a:endParaRPr lang="en-US" sz="1200" dirty="0"/>
          </a:p>
        </p:txBody>
      </p:sp>
      <p:sp>
        <p:nvSpPr>
          <p:cNvPr id="18" name="rec cat 2"/>
          <p:cNvSpPr txBox="1"/>
          <p:nvPr/>
        </p:nvSpPr>
        <p:spPr>
          <a:xfrm>
            <a:off x="5852160" y="3493008"/>
            <a:ext cx="2834640" cy="411480"/>
          </a:xfrm>
          <a:prstGeom prst="rect">
            <a:avLst/>
          </a:prstGeom>
          <a:noFill/>
          <a:ln/>
        </p:spPr>
        <p:txBody>
          <a:bodyPr wrap="square" lIns="0" tIns="0" rIns="0" bIns="0" rtlCol="0" anchor="ctr"/>
          <a:lstStyle/>
          <a:p>
            <a:pPr indent="0" marL="0">
              <a:buNone/>
            </a:pPr>
            <a:r>
              <a:rPr lang="en-US" sz="1600" b="1" dirty="0">
                <a:solidFill>
                  <a:schemeClr val="tx2"/>
                </a:solidFill>
              </a:rPr>
              <a:t>Home Decor</a:t>
            </a:r>
            <a:endParaRPr lang="en-US" sz="1600" dirty="0"/>
          </a:p>
        </p:txBody>
      </p:sp>
      <p:sp>
        <p:nvSpPr>
          <p:cNvPr id="19" name="rec text 2"/>
          <p:cNvSpPr txBox="1"/>
          <p:nvPr/>
        </p:nvSpPr>
        <p:spPr>
          <a:xfrm>
            <a:off x="4800600" y="3913632"/>
            <a:ext cx="3886200" cy="475488"/>
          </a:xfrm>
          <a:prstGeom prst="rect">
            <a:avLst/>
          </a:prstGeom>
          <a:noFill/>
          <a:ln/>
        </p:spPr>
        <p:txBody>
          <a:bodyPr wrap="square" lIns="0" tIns="0" rIns="0" bIns="0" rtlCol="0" anchor="t"/>
          <a:lstStyle/>
          <a:p>
            <a:pPr indent="0" marL="0">
              <a:buNone/>
            </a:pPr>
            <a:r>
              <a:rPr lang="en-US" sz="1150" dirty="0">
                <a:solidFill>
                  <a:schemeClr val="tx1"/>
                </a:solidFill>
              </a:rPr>
              <a:t>Discounts cut order value 5%. Lowest rating (2.98), so fix product quality, not price.</a:t>
            </a:r>
            <a:endParaRPr lang="en-US" sz="115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8781"/>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960120"/>
            <a:ext cx="8046720" cy="1600200"/>
          </a:xfrm>
          <a:prstGeom prst="rect">
            <a:avLst/>
          </a:prstGeom>
          <a:noFill/>
          <a:ln/>
        </p:spPr>
        <p:txBody>
          <a:bodyPr wrap="square" lIns="0" tIns="0" rIns="0" bIns="0" rtlCol="0" anchor="b"/>
          <a:lstStyle/>
          <a:p>
            <a:pPr algn="l" indent="0" marL="0">
              <a:buNone/>
            </a:pPr>
            <a:r>
              <a:rPr lang="en-US" sz="3400" b="1" dirty="0">
                <a:solidFill>
                  <a:schemeClr val="bg1"/>
                </a:solidFill>
                <a:latin typeface="Cambria" pitchFamily="34" charset="0"/>
                <a:ea typeface="Cambria" pitchFamily="34" charset="-122"/>
                <a:cs typeface="Cambria" pitchFamily="34" charset="-120"/>
              </a:rPr>
              <a:t>Task 2 · Card spending by age, season and location</a:t>
            </a:r>
            <a:endParaRPr lang="en-US" sz="3400" dirty="0"/>
          </a:p>
        </p:txBody>
      </p:sp>
      <p:sp>
        <p:nvSpPr>
          <p:cNvPr id="3" name="Text 0"/>
          <p:cNvSpPr/>
          <p:nvPr>
            <p:ph idx="101" type="body" hasCustomPrompt="1"/>
          </p:nvPr>
        </p:nvSpPr>
        <p:spPr>
          <a:xfrm>
            <a:off x="548640" y="2743200"/>
            <a:ext cx="8046720" cy="731520"/>
          </a:xfrm>
          <a:prstGeom prst="rect">
            <a:avLst/>
          </a:prstGeom>
          <a:noFill/>
          <a:ln/>
        </p:spPr>
        <p:txBody>
          <a:bodyPr wrap="square" lIns="0" tIns="0" rIns="0" bIns="0" rtlCol="0" anchor="t"/>
          <a:lstStyle/>
          <a:p>
            <a:pPr algn="l" indent="0" marL="0">
              <a:buNone/>
            </a:pPr>
            <a:r>
              <a:rPr lang="en-US" sz="1600" dirty="0">
                <a:solidFill>
                  <a:srgbClr val="CADCFC"/>
                </a:solidFill>
              </a:rPr>
              <a:t>1,574 credit and debit card purchases worth $405,807 (40.7% of revenue)</a:t>
            </a:r>
            <a:endParaRPr lang="en-US" sz="16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36–45 year olds spend the most by card</a:t>
            </a:r>
            <a:endParaRPr lang="en-US" sz="2600" dirty="0"/>
          </a:p>
        </p:txBody>
      </p:sp>
      <p:graphicFrame>
        <p:nvGraphicFramePr>
          <p:cNvPr id="4" name="chart card by age" descr=""/>
          <p:cNvGraphicFramePr/>
          <p:nvPr/>
        </p:nvGraphicFramePr>
        <p:xfrm>
          <a:off x="365760" y="960120"/>
          <a:ext cx="5486400" cy="3611880"/>
        </p:xfrm>
        <a:graphic xmlns:a="http://schemas.openxmlformats.org/drawingml/2006/main">
          <a:graphicData uri="http://schemas.openxmlformats.org/drawingml/2006/chart">
            <c:chart xmlns:c="http://schemas.openxmlformats.org/drawingml/2006/chart" r:id="rId1"/>
          </a:graphicData>
        </a:graphic>
      </p:graphicFrame>
      <p:sp>
        <p:nvSpPr>
          <p:cNvPr id="5" name="age stat card 0"/>
          <p:cNvSpPr/>
          <p:nvPr/>
        </p:nvSpPr>
        <p:spPr>
          <a:xfrm>
            <a:off x="6172200" y="1005840"/>
            <a:ext cx="2606040" cy="1051560"/>
          </a:xfrm>
          <a:prstGeom prst="roundRect">
            <a:avLst>
              <a:gd name="adj" fmla="val 6957"/>
            </a:avLst>
          </a:prstGeom>
          <a:solidFill>
            <a:schemeClr val="bg2"/>
          </a:solidFill>
          <a:ln/>
        </p:spPr>
      </p:sp>
      <p:sp>
        <p:nvSpPr>
          <p:cNvPr id="6" name="age stat 0"/>
          <p:cNvSpPr txBox="1"/>
          <p:nvPr/>
        </p:nvSpPr>
        <p:spPr>
          <a:xfrm>
            <a:off x="6355080" y="1115568"/>
            <a:ext cx="2286000" cy="914400"/>
          </a:xfrm>
          <a:prstGeom prst="rect">
            <a:avLst/>
          </a:prstGeom>
          <a:noFill/>
          <a:ln/>
        </p:spPr>
        <p:txBody>
          <a:bodyPr wrap="square" lIns="0" tIns="0" rIns="0" bIns="0" rtlCol="0" anchor="t"/>
          <a:lstStyle/>
          <a:p>
            <a:pPr indent="0" marL="0">
              <a:buNone/>
            </a:pPr>
            <a:r>
              <a:rPr lang="en-US" sz="3000" b="1" dirty="0">
                <a:solidFill>
                  <a:srgbClr val="1B2A4A"/>
                </a:solidFill>
                <a:latin typeface="Cambria" pitchFamily="34" charset="0"/>
                <a:ea typeface="Cambria" pitchFamily="34" charset="-122"/>
                <a:cs typeface="Cambria" pitchFamily="34" charset="-120"/>
              </a:rPr>
              <a:t>40.4%</a:t>
            </a:r>
            <a:endParaRPr lang="en-US" sz="3000" dirty="0"/>
          </a:p>
          <a:p>
            <a:pPr indent="0" marL="0">
              <a:buNone/>
            </a:pPr>
            <a:r>
              <a:rPr lang="en-US" sz="1200" dirty="0">
                <a:solidFill>
                  <a:schemeClr val="tx1"/>
                </a:solidFill>
              </a:rPr>
              <a:t>of purchases paid by card</a:t>
            </a:r>
            <a:endParaRPr lang="en-US" sz="3000" dirty="0"/>
          </a:p>
        </p:txBody>
      </p:sp>
      <p:sp>
        <p:nvSpPr>
          <p:cNvPr id="7" name="age stat card 1"/>
          <p:cNvSpPr/>
          <p:nvPr/>
        </p:nvSpPr>
        <p:spPr>
          <a:xfrm>
            <a:off x="6172200" y="2194560"/>
            <a:ext cx="2606040" cy="1051560"/>
          </a:xfrm>
          <a:prstGeom prst="roundRect">
            <a:avLst>
              <a:gd name="adj" fmla="val 6957"/>
            </a:avLst>
          </a:prstGeom>
          <a:solidFill>
            <a:schemeClr val="bg2"/>
          </a:solidFill>
          <a:ln/>
        </p:spPr>
      </p:sp>
      <p:sp>
        <p:nvSpPr>
          <p:cNvPr id="8" name="age stat 1"/>
          <p:cNvSpPr txBox="1"/>
          <p:nvPr/>
        </p:nvSpPr>
        <p:spPr>
          <a:xfrm>
            <a:off x="6355080" y="2304288"/>
            <a:ext cx="2286000" cy="914400"/>
          </a:xfrm>
          <a:prstGeom prst="rect">
            <a:avLst/>
          </a:prstGeom>
          <a:noFill/>
          <a:ln/>
        </p:spPr>
        <p:txBody>
          <a:bodyPr wrap="square" lIns="0" tIns="0" rIns="0" bIns="0" rtlCol="0" anchor="t"/>
          <a:lstStyle/>
          <a:p>
            <a:pPr indent="0" marL="0">
              <a:buNone/>
            </a:pPr>
            <a:r>
              <a:rPr lang="en-US" sz="3000" b="1" dirty="0">
                <a:solidFill>
                  <a:srgbClr val="2A78D6"/>
                </a:solidFill>
                <a:latin typeface="Cambria" pitchFamily="34" charset="0"/>
                <a:ea typeface="Cambria" pitchFamily="34" charset="-122"/>
                <a:cs typeface="Cambria" pitchFamily="34" charset="-120"/>
              </a:rPr>
              <a:t>$88.5K</a:t>
            </a:r>
            <a:endParaRPr lang="en-US" sz="3000" dirty="0"/>
          </a:p>
          <a:p>
            <a:pPr indent="0" marL="0">
              <a:buNone/>
            </a:pPr>
            <a:r>
              <a:rPr lang="en-US" sz="1200" dirty="0">
                <a:solidFill>
                  <a:schemeClr val="tx1"/>
                </a:solidFill>
              </a:rPr>
              <a:t>36–45: highest card spend</a:t>
            </a:r>
            <a:endParaRPr lang="en-US" sz="3000" dirty="0"/>
          </a:p>
        </p:txBody>
      </p:sp>
      <p:sp>
        <p:nvSpPr>
          <p:cNvPr id="9" name="age stat card 2"/>
          <p:cNvSpPr/>
          <p:nvPr/>
        </p:nvSpPr>
        <p:spPr>
          <a:xfrm>
            <a:off x="6172200" y="3383280"/>
            <a:ext cx="2606040" cy="1051560"/>
          </a:xfrm>
          <a:prstGeom prst="roundRect">
            <a:avLst>
              <a:gd name="adj" fmla="val 6957"/>
            </a:avLst>
          </a:prstGeom>
          <a:solidFill>
            <a:schemeClr val="bg2"/>
          </a:solidFill>
          <a:ln/>
        </p:spPr>
      </p:sp>
      <p:sp>
        <p:nvSpPr>
          <p:cNvPr id="10" name="age stat 2"/>
          <p:cNvSpPr txBox="1"/>
          <p:nvPr/>
        </p:nvSpPr>
        <p:spPr>
          <a:xfrm>
            <a:off x="6355080" y="3493008"/>
            <a:ext cx="2286000" cy="914400"/>
          </a:xfrm>
          <a:prstGeom prst="rect">
            <a:avLst/>
          </a:prstGeom>
          <a:noFill/>
          <a:ln/>
        </p:spPr>
        <p:txBody>
          <a:bodyPr wrap="square" lIns="0" tIns="0" rIns="0" bIns="0" rtlCol="0" anchor="t"/>
          <a:lstStyle/>
          <a:p>
            <a:pPr indent="0" marL="0">
              <a:buNone/>
            </a:pPr>
            <a:r>
              <a:rPr lang="en-US" sz="3000" b="1" dirty="0">
                <a:solidFill>
                  <a:srgbClr val="1BAF7A"/>
                </a:solidFill>
                <a:latin typeface="Cambria" pitchFamily="34" charset="0"/>
                <a:ea typeface="Cambria" pitchFamily="34" charset="-122"/>
                <a:cs typeface="Cambria" pitchFamily="34" charset="-120"/>
              </a:rPr>
              <a:t>$250–270</a:t>
            </a:r>
            <a:endParaRPr lang="en-US" sz="3000" dirty="0"/>
          </a:p>
          <a:p>
            <a:pPr indent="0" marL="0">
              <a:buNone/>
            </a:pPr>
            <a:r>
              <a:rPr lang="en-US" sz="1200" dirty="0">
                <a:solidFill>
                  <a:schemeClr val="tx1"/>
                </a:solidFill>
              </a:rPr>
              <a:t>avg card purchase, every age</a:t>
            </a:r>
            <a:endParaRPr lang="en-US" sz="3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8781"/>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Spring and New York lead card spending</a:t>
            </a:r>
            <a:endParaRPr lang="en-US" sz="2600" dirty="0"/>
          </a:p>
        </p:txBody>
      </p:sp>
      <p:sp>
        <p:nvSpPr>
          <p:cNvPr id="4" name="heatmap title"/>
          <p:cNvSpPr txBox="1"/>
          <p:nvPr/>
        </p:nvSpPr>
        <p:spPr>
          <a:xfrm>
            <a:off x="457200" y="960120"/>
            <a:ext cx="4572000" cy="320040"/>
          </a:xfrm>
          <a:prstGeom prst="rect">
            <a:avLst/>
          </a:prstGeom>
          <a:noFill/>
          <a:ln/>
        </p:spPr>
        <p:txBody>
          <a:bodyPr wrap="square" lIns="0" tIns="0" rIns="0" bIns="0" rtlCol="0" anchor="ctr"/>
          <a:lstStyle/>
          <a:p>
            <a:pPr indent="0" marL="0">
              <a:buNone/>
            </a:pPr>
            <a:r>
              <a:rPr lang="en-US" sz="1300" b="1" dirty="0">
                <a:solidFill>
                  <a:srgbClr val="1C1C1A"/>
                </a:solidFill>
              </a:rPr>
              <a:t>Card spend: age group × season</a:t>
            </a:r>
            <a:endParaRPr lang="en-US" sz="1300" dirty="0"/>
          </a:p>
        </p:txBody>
      </p:sp>
      <p:graphicFrame>
        <p:nvGraphicFramePr>
          <p:cNvPr id="11" name="age season heatmap"/>
          <p:cNvGraphicFramePr>
            <a:graphicFrameLocks noGrp="1"/>
          </p:cNvGraphicFramePr>
          <p:nvPr>
            <p:extLst>
              <p:ext uri="{D42A27DB-BD31-4B8C-83A1-F6EECF244321}">
                <p14:modId xmlns:p14="http://schemas.microsoft.com/office/powerpoint/2010/main" val="1579011935"/>
              </p:ext>
            </p:extLst>
          </p:nvPr>
        </p:nvGraphicFramePr>
        <p:xfrm>
          <a:off x="457200" y="1325880"/>
          <a:ext cx="4572000" cy="914400"/>
        </p:xfrm>
        <a:graphic>
          <a:graphicData uri="http://schemas.openxmlformats.org/drawingml/2006/table">
            <a:tbl>
              <a:tblPr/>
              <a:tblGrid>
                <a:gridCol w="1097280"/>
                <a:gridCol w="868680"/>
                <a:gridCol w="868680"/>
                <a:gridCol w="868680"/>
                <a:gridCol w="868680"/>
              </a:tblGrid>
              <a:tr h="475488">
                <a:tc>
                  <a:txBody>
                    <a:bodyPr/>
                    <a:lstStyle/>
                    <a:p>
                      <a:pPr indent="0" marL="0">
                        <a:buNone/>
                      </a:pPr>
                      <a:r>
                        <a:rPr lang="en-US" sz="1200" b="1" dirty="0">
                          <a:solidFill>
                            <a:srgbClr val="52514E"/>
                          </a:solidFill>
                          <a:latin typeface="Calibri" pitchFamily="34" charset="0"/>
                          <a:ea typeface="Calibri" pitchFamily="34" charset="-122"/>
                          <a:cs typeface="Calibri" pitchFamily="34" charset="-120"/>
                        </a:rPr>
                        <a:t>Age \ Season</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52514E"/>
                          </a:solidFill>
                          <a:latin typeface="Calibri" pitchFamily="34" charset="0"/>
                          <a:ea typeface="Calibri" pitchFamily="34" charset="-122"/>
                          <a:cs typeface="Calibri" pitchFamily="34" charset="-120"/>
                        </a:rPr>
                        <a:t>Spring</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52514E"/>
                          </a:solidFill>
                          <a:latin typeface="Calibri" pitchFamily="34" charset="0"/>
                          <a:ea typeface="Calibri" pitchFamily="34" charset="-122"/>
                          <a:cs typeface="Calibri" pitchFamily="34" charset="-120"/>
                        </a:rPr>
                        <a:t>Summer</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52514E"/>
                          </a:solidFill>
                          <a:latin typeface="Calibri" pitchFamily="34" charset="0"/>
                          <a:ea typeface="Calibri" pitchFamily="34" charset="-122"/>
                          <a:cs typeface="Calibri" pitchFamily="34" charset="-120"/>
                        </a:rPr>
                        <a:t>Fall</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52514E"/>
                          </a:solidFill>
                          <a:latin typeface="Calibri" pitchFamily="34" charset="0"/>
                          <a:ea typeface="Calibri" pitchFamily="34" charset="-122"/>
                          <a:cs typeface="Calibri" pitchFamily="34" charset="-120"/>
                        </a:rPr>
                        <a:t>Winter</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52514E"/>
                          </a:solidFill>
                          <a:latin typeface="Calibri" pitchFamily="34" charset="0"/>
                          <a:ea typeface="Calibri" pitchFamily="34" charset="-122"/>
                          <a:cs typeface="Calibri" pitchFamily="34" charset="-120"/>
                        </a:rPr>
                        <a:t>18–25</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C1C1A"/>
                          </a:solidFill>
                          <a:latin typeface="Calibri" pitchFamily="34" charset="0"/>
                          <a:ea typeface="Calibri" pitchFamily="34" charset="-122"/>
                          <a:cs typeface="Calibri" pitchFamily="34" charset="-120"/>
                        </a:rPr>
                        <a:t>$15.4K</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CEAFB"/>
                    </a:solidFill>
                  </a:tcPr>
                </a:tc>
                <a:tc>
                  <a:txBody>
                    <a:bodyPr/>
                    <a:lstStyle/>
                    <a:p>
                      <a:pPr algn="ctr" indent="0" marL="0">
                        <a:buNone/>
                      </a:pPr>
                      <a:r>
                        <a:rPr lang="en-US" sz="1200" dirty="0">
                          <a:solidFill>
                            <a:srgbClr val="1C1C1A"/>
                          </a:solidFill>
                          <a:latin typeface="Calibri" pitchFamily="34" charset="0"/>
                          <a:ea typeface="Calibri" pitchFamily="34" charset="-122"/>
                          <a:cs typeface="Calibri" pitchFamily="34" charset="-120"/>
                        </a:rPr>
                        <a:t>$16.9K</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2DAF7"/>
                    </a:solidFill>
                  </a:tcPr>
                </a:tc>
                <a:tc>
                  <a:txBody>
                    <a:bodyPr/>
                    <a:lstStyle/>
                    <a:p>
                      <a:pPr algn="ctr" indent="0" marL="0">
                        <a:buNone/>
                      </a:pPr>
                      <a:r>
                        <a:rPr lang="en-US" sz="1200" dirty="0">
                          <a:solidFill>
                            <a:srgbClr val="1C1C1A"/>
                          </a:solidFill>
                          <a:latin typeface="Calibri" pitchFamily="34" charset="0"/>
                          <a:ea typeface="Calibri" pitchFamily="34" charset="-122"/>
                          <a:cs typeface="Calibri" pitchFamily="34" charset="-120"/>
                        </a:rPr>
                        <a:t>$17.3K</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2DAF7"/>
                    </a:solidFill>
                  </a:tcPr>
                </a:tc>
                <a:tc>
                  <a:txBody>
                    <a:bodyPr/>
                    <a:lstStyle/>
                    <a:p>
                      <a:pPr algn="ctr" indent="0" marL="0">
                        <a:buNone/>
                      </a:pPr>
                      <a:r>
                        <a:rPr lang="en-US" sz="1200" dirty="0">
                          <a:solidFill>
                            <a:srgbClr val="1C1C1A"/>
                          </a:solidFill>
                          <a:latin typeface="Calibri" pitchFamily="34" charset="0"/>
                          <a:ea typeface="Calibri" pitchFamily="34" charset="-122"/>
                          <a:cs typeface="Calibri" pitchFamily="34" charset="-120"/>
                        </a:rPr>
                        <a:t>$20.7K</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6DA7EC"/>
                    </a:solidFill>
                  </a:tcPr>
                </a:tc>
              </a:tr>
              <a:tr h="475488">
                <a:tc>
                  <a:txBody>
                    <a:bodyPr/>
                    <a:lstStyle/>
                    <a:p>
                      <a:pPr indent="0" marL="0">
                        <a:buNone/>
                      </a:pPr>
                      <a:r>
                        <a:rPr lang="en-US" sz="1200" b="1" dirty="0">
                          <a:solidFill>
                            <a:srgbClr val="52514E"/>
                          </a:solidFill>
                          <a:latin typeface="Calibri" pitchFamily="34" charset="0"/>
                          <a:ea typeface="Calibri" pitchFamily="34" charset="-122"/>
                          <a:cs typeface="Calibri" pitchFamily="34" charset="-120"/>
                        </a:rPr>
                        <a:t>26–35</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FFFFFF"/>
                          </a:solidFill>
                          <a:latin typeface="Calibri" pitchFamily="34" charset="0"/>
                          <a:ea typeface="Calibri" pitchFamily="34" charset="-122"/>
                          <a:cs typeface="Calibri" pitchFamily="34" charset="-120"/>
                        </a:rPr>
                        <a:t>$23.4K</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256ABF"/>
                    </a:solidFill>
                  </a:tcPr>
                </a:tc>
                <a:tc>
                  <a:txBody>
                    <a:bodyPr/>
                    <a:lstStyle/>
                    <a:p>
                      <a:pPr algn="ctr" indent="0" marL="0">
                        <a:buNone/>
                      </a:pPr>
                      <a:r>
                        <a:rPr lang="en-US" sz="1200" dirty="0">
                          <a:solidFill>
                            <a:srgbClr val="1C1C1A"/>
                          </a:solidFill>
                          <a:latin typeface="Calibri" pitchFamily="34" charset="0"/>
                          <a:ea typeface="Calibri" pitchFamily="34" charset="-122"/>
                          <a:cs typeface="Calibri" pitchFamily="34" charset="-120"/>
                        </a:rPr>
                        <a:t>$17.8K</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9EC5F4"/>
                    </a:solidFill>
                  </a:tcPr>
                </a:tc>
                <a:tc>
                  <a:txBody>
                    <a:bodyPr/>
                    <a:lstStyle/>
                    <a:p>
                      <a:pPr algn="ctr" indent="0" marL="0">
                        <a:buNone/>
                      </a:pPr>
                      <a:r>
                        <a:rPr lang="en-US" sz="1200" dirty="0">
                          <a:solidFill>
                            <a:srgbClr val="1C1C1A"/>
                          </a:solidFill>
                          <a:latin typeface="Calibri" pitchFamily="34" charset="0"/>
                          <a:ea typeface="Calibri" pitchFamily="34" charset="-122"/>
                          <a:cs typeface="Calibri" pitchFamily="34" charset="-120"/>
                        </a:rPr>
                        <a:t>$18.8K</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9EC5F4"/>
                    </a:solidFill>
                  </a:tcPr>
                </a:tc>
                <a:tc>
                  <a:txBody>
                    <a:bodyPr/>
                    <a:lstStyle/>
                    <a:p>
                      <a:pPr algn="ctr" indent="0" marL="0">
                        <a:buNone/>
                      </a:pPr>
                      <a:r>
                        <a:rPr lang="en-US" sz="1200" dirty="0">
                          <a:solidFill>
                            <a:srgbClr val="FFFFFF"/>
                          </a:solidFill>
                          <a:latin typeface="Calibri" pitchFamily="34" charset="0"/>
                          <a:ea typeface="Calibri" pitchFamily="34" charset="-122"/>
                          <a:cs typeface="Calibri" pitchFamily="34" charset="-120"/>
                        </a:rPr>
                        <a:t>$21.9K</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987E5"/>
                    </a:solidFill>
                  </a:tcPr>
                </a:tc>
              </a:tr>
              <a:tr h="475488">
                <a:tc>
                  <a:txBody>
                    <a:bodyPr/>
                    <a:lstStyle/>
                    <a:p>
                      <a:pPr indent="0" marL="0">
                        <a:buNone/>
                      </a:pPr>
                      <a:r>
                        <a:rPr lang="en-US" sz="1200" b="1" dirty="0">
                          <a:solidFill>
                            <a:srgbClr val="52514E"/>
                          </a:solidFill>
                          <a:latin typeface="Calibri" pitchFamily="34" charset="0"/>
                          <a:ea typeface="Calibri" pitchFamily="34" charset="-122"/>
                          <a:cs typeface="Calibri" pitchFamily="34" charset="-120"/>
                        </a:rPr>
                        <a:t>36–45</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$25.9K</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84F95"/>
                    </a:solidFill>
                  </a:tcPr>
                </a:tc>
                <a:tc>
                  <a:txBody>
                    <a:bodyPr/>
                    <a:lstStyle/>
                    <a:p>
                      <a:pPr algn="ctr" indent="0" marL="0">
                        <a:buNone/>
                      </a:pPr>
                      <a:r>
                        <a:rPr lang="en-US" sz="1200" dirty="0">
                          <a:solidFill>
                            <a:srgbClr val="1C1C1A"/>
                          </a:solidFill>
                          <a:latin typeface="Calibri" pitchFamily="34" charset="0"/>
                          <a:ea typeface="Calibri" pitchFamily="34" charset="-122"/>
                          <a:cs typeface="Calibri" pitchFamily="34" charset="-120"/>
                        </a:rPr>
                        <a:t>$21.3K</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6DA7EC"/>
                    </a:solidFill>
                  </a:tcPr>
                </a:tc>
                <a:tc>
                  <a:txBody>
                    <a:bodyPr/>
                    <a:lstStyle/>
                    <a:p>
                      <a:pPr algn="ctr" indent="0" marL="0">
                        <a:buNone/>
                      </a:pPr>
                      <a:r>
                        <a:rPr lang="en-US" sz="1200" dirty="0">
                          <a:solidFill>
                            <a:srgbClr val="1C1C1A"/>
                          </a:solidFill>
                          <a:latin typeface="Calibri" pitchFamily="34" charset="0"/>
                          <a:ea typeface="Calibri" pitchFamily="34" charset="-122"/>
                          <a:cs typeface="Calibri" pitchFamily="34" charset="-120"/>
                        </a:rPr>
                        <a:t>$18.9K</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9EC5F4"/>
                    </a:solidFill>
                  </a:tcPr>
                </a:tc>
                <a:tc>
                  <a:txBody>
                    <a:bodyPr/>
                    <a:lstStyle/>
                    <a:p>
                      <a:pPr algn="ctr" indent="0" marL="0">
                        <a:buNone/>
                      </a:pPr>
                      <a:r>
                        <a:rPr lang="en-US" sz="1200" dirty="0">
                          <a:solidFill>
                            <a:srgbClr val="FFFFFF"/>
                          </a:solidFill>
                          <a:latin typeface="Calibri" pitchFamily="34" charset="0"/>
                          <a:ea typeface="Calibri" pitchFamily="34" charset="-122"/>
                          <a:cs typeface="Calibri" pitchFamily="34" charset="-120"/>
                        </a:rPr>
                        <a:t>$22.4K</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987E5"/>
                    </a:solidFill>
                  </a:tcPr>
                </a:tc>
              </a:tr>
              <a:tr h="475488">
                <a:tc>
                  <a:txBody>
                    <a:bodyPr/>
                    <a:lstStyle/>
                    <a:p>
                      <a:pPr indent="0" marL="0">
                        <a:buNone/>
                      </a:pPr>
                      <a:r>
                        <a:rPr lang="en-US" sz="1200" b="1" dirty="0">
                          <a:solidFill>
                            <a:srgbClr val="52514E"/>
                          </a:solidFill>
                          <a:latin typeface="Calibri" pitchFamily="34" charset="0"/>
                          <a:ea typeface="Calibri" pitchFamily="34" charset="-122"/>
                          <a:cs typeface="Calibri" pitchFamily="34" charset="-120"/>
                        </a:rPr>
                        <a:t>46–55</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C1C1A"/>
                          </a:solidFill>
                          <a:latin typeface="Calibri" pitchFamily="34" charset="0"/>
                          <a:ea typeface="Calibri" pitchFamily="34" charset="-122"/>
                          <a:cs typeface="Calibri" pitchFamily="34" charset="-120"/>
                        </a:rPr>
                        <a:t>$19.5K</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9EC5F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$24.2K</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256ABF"/>
                    </a:solidFill>
                  </a:tcPr>
                </a:tc>
                <a:tc>
                  <a:txBody>
                    <a:bodyPr/>
                    <a:lstStyle/>
                    <a:p>
                      <a:pPr algn="ctr" indent="0" marL="0">
                        <a:buNone/>
                      </a:pPr>
                      <a:r>
                        <a:rPr lang="en-US" sz="1200" dirty="0">
                          <a:solidFill>
                            <a:srgbClr val="FFFFFF"/>
                          </a:solidFill>
                          <a:latin typeface="Calibri" pitchFamily="34" charset="0"/>
                          <a:ea typeface="Calibri" pitchFamily="34" charset="-122"/>
                          <a:cs typeface="Calibri" pitchFamily="34" charset="-120"/>
                        </a:rPr>
                        <a:t>$22.7K</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987E5"/>
                    </a:solidFill>
                  </a:tcPr>
                </a:tc>
                <a:tc>
                  <a:txBody>
                    <a:bodyPr/>
                    <a:lstStyle/>
                    <a:p>
                      <a:pPr algn="ctr" indent="0" marL="0">
                        <a:buNone/>
                      </a:pPr>
                      <a:r>
                        <a:rPr lang="en-US" sz="1200" dirty="0">
                          <a:solidFill>
                            <a:srgbClr val="1C1C1A"/>
                          </a:solidFill>
                          <a:latin typeface="Calibri" pitchFamily="34" charset="0"/>
                          <a:ea typeface="Calibri" pitchFamily="34" charset="-122"/>
                          <a:cs typeface="Calibri" pitchFamily="34" charset="-120"/>
                        </a:rPr>
                        <a:t>$18.4K</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9EC5F4"/>
                    </a:solidFill>
                  </a:tcPr>
                </a:tc>
              </a:tr>
              <a:tr h="475488">
                <a:tc>
                  <a:txBody>
                    <a:bodyPr/>
                    <a:lstStyle/>
                    <a:p>
                      <a:pPr indent="0" marL="0">
                        <a:buNone/>
                      </a:pPr>
                      <a:r>
                        <a:rPr lang="en-US" sz="1200" b="1" dirty="0">
                          <a:solidFill>
                            <a:srgbClr val="52514E"/>
                          </a:solidFill>
                          <a:latin typeface="Calibri" pitchFamily="34" charset="0"/>
                          <a:ea typeface="Calibri" pitchFamily="34" charset="-122"/>
                          <a:cs typeface="Calibri" pitchFamily="34" charset="-120"/>
                        </a:rPr>
                        <a:t>56–65</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FFFFFF"/>
                          </a:solidFill>
                          <a:latin typeface="Calibri" pitchFamily="34" charset="0"/>
                          <a:ea typeface="Calibri" pitchFamily="34" charset="-122"/>
                          <a:cs typeface="Calibri" pitchFamily="34" charset="-120"/>
                        </a:rPr>
                        <a:t>$21.6K</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987E5"/>
                    </a:solidFill>
                  </a:tcPr>
                </a:tc>
                <a:tc>
                  <a:txBody>
                    <a:bodyPr/>
                    <a:lstStyle/>
                    <a:p>
                      <a:pPr algn="ctr" indent="0" marL="0">
                        <a:buNone/>
                      </a:pPr>
                      <a:r>
                        <a:rPr lang="en-US" sz="1200" dirty="0">
                          <a:solidFill>
                            <a:srgbClr val="1C1C1A"/>
                          </a:solidFill>
                          <a:latin typeface="Calibri" pitchFamily="34" charset="0"/>
                          <a:ea typeface="Calibri" pitchFamily="34" charset="-122"/>
                          <a:cs typeface="Calibri" pitchFamily="34" charset="-120"/>
                        </a:rPr>
                        <a:t>$16.8K</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2DAF7"/>
                    </a:solidFill>
                  </a:tcPr>
                </a:tc>
                <a:tc>
                  <a:txBody>
                    <a:bodyPr/>
                    <a:lstStyle/>
                    <a:p>
                      <a:pPr algn="ctr" indent="0" marL="0">
                        <a:buNone/>
                      </a:pPr>
                      <a:r>
                        <a:rPr lang="en-US" sz="1200" dirty="0">
                          <a:solidFill>
                            <a:srgbClr val="FFFFFF"/>
                          </a:solidFill>
                          <a:latin typeface="Calibri" pitchFamily="34" charset="0"/>
                          <a:ea typeface="Calibri" pitchFamily="34" charset="-122"/>
                          <a:cs typeface="Calibri" pitchFamily="34" charset="-120"/>
                        </a:rPr>
                        <a:t>$21.7K</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987E5"/>
                    </a:solidFill>
                  </a:tcPr>
                </a:tc>
                <a:tc>
                  <a:txBody>
                    <a:bodyPr/>
                    <a:lstStyle/>
                    <a:p>
                      <a:pPr algn="ctr" indent="0" marL="0">
                        <a:buNone/>
                      </a:pPr>
                      <a:r>
                        <a:rPr lang="en-US" sz="1200" dirty="0">
                          <a:solidFill>
                            <a:srgbClr val="1C1C1A"/>
                          </a:solidFill>
                          <a:latin typeface="Calibri" pitchFamily="34" charset="0"/>
                          <a:ea typeface="Calibri" pitchFamily="34" charset="-122"/>
                          <a:cs typeface="Calibri" pitchFamily="34" charset="-120"/>
                        </a:rPr>
                        <a:t>$20.2K</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6DA7EC"/>
                    </a:solidFill>
                  </a:tcPr>
                </a:tc>
              </a:tr>
            </a:tbl>
          </a:graphicData>
        </a:graphic>
      </p:graphicFrame>
      <p:graphicFrame>
        <p:nvGraphicFramePr>
          <p:cNvPr id="6" name="chart card by city" descr=""/>
          <p:cNvGraphicFramePr/>
          <p:nvPr/>
        </p:nvGraphicFramePr>
        <p:xfrm>
          <a:off x="5303520" y="960120"/>
          <a:ext cx="3566160" cy="2651760"/>
        </p:xfrm>
        <a:graphic xmlns:a="http://schemas.openxmlformats.org/drawingml/2006/main">
          <a:graphicData uri="http://schemas.openxmlformats.org/drawingml/2006/chart">
            <c:chart xmlns:c="http://schemas.openxmlformats.org/drawingml/2006/chart" r:id="rId1"/>
          </a:graphicData>
        </a:graphic>
      </p:graphicFrame>
      <p:sp>
        <p:nvSpPr>
          <p:cNvPr id="7" name="city callout card"/>
          <p:cNvSpPr/>
          <p:nvPr/>
        </p:nvSpPr>
        <p:spPr>
          <a:xfrm>
            <a:off x="5394960" y="3749040"/>
            <a:ext cx="3383280" cy="777240"/>
          </a:xfrm>
          <a:prstGeom prst="roundRect">
            <a:avLst>
              <a:gd name="adj" fmla="val 9412"/>
            </a:avLst>
          </a:prstGeom>
          <a:solidFill>
            <a:schemeClr val="bg2"/>
          </a:solidFill>
          <a:ln/>
        </p:spPr>
      </p:sp>
      <p:sp>
        <p:nvSpPr>
          <p:cNvPr id="8" name="city callout"/>
          <p:cNvSpPr txBox="1"/>
          <p:nvPr/>
        </p:nvSpPr>
        <p:spPr>
          <a:xfrm>
            <a:off x="5532120" y="3749040"/>
            <a:ext cx="3154680" cy="777240"/>
          </a:xfrm>
          <a:prstGeom prst="rect">
            <a:avLst/>
          </a:prstGeom>
          <a:noFill/>
          <a:ln/>
        </p:spPr>
        <p:txBody>
          <a:bodyPr wrap="square" lIns="0" tIns="0" rIns="0" bIns="0" rtlCol="0" anchor="ctr"/>
          <a:lstStyle/>
          <a:p>
            <a:pPr indent="0" marL="0">
              <a:buNone/>
            </a:pPr>
            <a:r>
              <a:rPr lang="en-US" sz="1200" b="1" dirty="0">
                <a:solidFill>
                  <a:schemeClr val="tx1"/>
                </a:solidFill>
              </a:rPr>
              <a:t>Best: </a:t>
            </a:r>
            <a:pPr indent="0" marL="0">
              <a:buNone/>
            </a:pPr>
            <a:r>
              <a:rPr lang="en-US" sz="1200" dirty="0">
                <a:solidFill>
                  <a:schemeClr val="tx1"/>
                </a:solidFill>
              </a:rPr>
              <a:t>New York · Fall $28.3K   </a:t>
            </a:r>
            <a:pPr indent="0" marL="0">
              <a:buNone/>
            </a:pPr>
            <a:r>
              <a:rPr lang="en-US" sz="1200" b="1" dirty="0">
                <a:solidFill>
                  <a:schemeClr val="tx1"/>
                </a:solidFill>
              </a:rPr>
              <a:t>Weakest: </a:t>
            </a:r>
            <a:pPr indent="0" marL="0">
              <a:buNone/>
            </a:pPr>
            <a:r>
              <a:rPr lang="en-US" sz="1200" dirty="0">
                <a:solidFill>
                  <a:schemeClr val="tx1"/>
                </a:solidFill>
              </a:rPr>
              <a:t>Miami · Fall $13.5K</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8781"/>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Volume, not ticket size, drives the differences</a:t>
            </a:r>
            <a:endParaRPr lang="en-US" sz="2600" dirty="0"/>
          </a:p>
        </p:txBody>
      </p:sp>
      <p:graphicFrame>
        <p:nvGraphicFramePr>
          <p:cNvPr id="12" name="stat tests table"/>
          <p:cNvGraphicFramePr>
            <a:graphicFrameLocks noGrp="1"/>
          </p:cNvGraphicFramePr>
          <p:nvPr>
            <p:extLst>
              <p:ext uri="{D42A27DB-BD31-4B8C-83A1-F6EECF244321}">
                <p14:modId xmlns:p14="http://schemas.microsoft.com/office/powerpoint/2010/main" val="1579011935"/>
              </p:ext>
            </p:extLst>
          </p:nvPr>
        </p:nvGraphicFramePr>
        <p:xfrm>
          <a:off x="457200" y="1051560"/>
          <a:ext cx="4754880" cy="914400"/>
        </p:xfrm>
        <a:graphic>
          <a:graphicData uri="http://schemas.openxmlformats.org/drawingml/2006/table">
            <a:tbl>
              <a:tblPr/>
              <a:tblGrid>
                <a:gridCol w="2651760"/>
                <a:gridCol w="1005840"/>
                <a:gridCol w="1097280"/>
              </a:tblGrid>
              <a:tr h="45720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Test</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B2A4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p-value</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B2A4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Significant?</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B2A4A"/>
                    </a:solidFill>
                  </a:tcPr>
                </a:tc>
              </a:tr>
              <a:tr h="457200">
                <a:tc>
                  <a:txBody>
                    <a:bodyPr/>
                    <a:lstStyle/>
                    <a:p>
                      <a:pPr indent="0" marL="0">
                        <a:buNone/>
                      </a:pPr>
                      <a:r>
                        <a:rPr lang="en-US" sz="1300" dirty="0">
                          <a:solidFill>
                            <a:srgbClr val="1C1C1A"/>
                          </a:solidFill>
                          <a:latin typeface="Calibri" pitchFamily="34" charset="0"/>
                          <a:ea typeface="Calibri" pitchFamily="34" charset="-122"/>
                          <a:cs typeface="Calibri" pitchFamily="34" charset="-120"/>
                        </a:rPr>
                        <a:t>Spend vs age group (ANOVA)</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3F2EE"/>
                    </a:solidFill>
                  </a:tcPr>
                </a:tc>
                <a:tc>
                  <a:txBody>
                    <a:bodyPr/>
                    <a:lstStyle/>
                    <a:p>
                      <a:pPr algn="ctr" indent="0" marL="0">
                        <a:buNone/>
                      </a:pPr>
                      <a:r>
                        <a:rPr lang="en-US" sz="1300" dirty="0">
                          <a:solidFill>
                            <a:srgbClr val="1C1C1A"/>
                          </a:solidFill>
                          <a:latin typeface="Calibri" pitchFamily="34" charset="0"/>
                          <a:ea typeface="Calibri" pitchFamily="34" charset="-122"/>
                          <a:cs typeface="Calibri" pitchFamily="34" charset="-120"/>
                        </a:rPr>
                        <a:t>0.97</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3F2EE"/>
                    </a:solidFill>
                  </a:tcPr>
                </a:tc>
                <a:tc>
                  <a:txBody>
                    <a:bodyPr/>
                    <a:lstStyle/>
                    <a:p>
                      <a:pPr algn="ctr" indent="0" marL="0">
                        <a:buNone/>
                      </a:pPr>
                      <a:r>
                        <a:rPr lang="en-US" sz="1300" dirty="0">
                          <a:solidFill>
                            <a:srgbClr val="1C1C1A"/>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3F2EE"/>
                    </a:solidFill>
                  </a:tcPr>
                </a:tc>
              </a:tr>
              <a:tr h="457200">
                <a:tc>
                  <a:txBody>
                    <a:bodyPr/>
                    <a:lstStyle/>
                    <a:p>
                      <a:pPr indent="0" marL="0">
                        <a:buNone/>
                      </a:pPr>
                      <a:r>
                        <a:rPr lang="en-US" sz="1300" dirty="0">
                          <a:solidFill>
                            <a:srgbClr val="1C1C1A"/>
                          </a:solidFill>
                          <a:latin typeface="Calibri" pitchFamily="34" charset="0"/>
                          <a:ea typeface="Calibri" pitchFamily="34" charset="-122"/>
                          <a:cs typeface="Calibri" pitchFamily="34" charset="-120"/>
                        </a:rPr>
                        <a:t>Spend vs season (ANOVA)</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1C1C1A"/>
                          </a:solidFill>
                          <a:latin typeface="Calibri" pitchFamily="34" charset="0"/>
                          <a:ea typeface="Calibri" pitchFamily="34" charset="-122"/>
                          <a:cs typeface="Calibri" pitchFamily="34" charset="-120"/>
                        </a:rPr>
                        <a:t>0.84</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1C1C1A"/>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indent="0" marL="0">
                        <a:buNone/>
                      </a:pPr>
                      <a:r>
                        <a:rPr lang="en-US" sz="1300" dirty="0">
                          <a:solidFill>
                            <a:srgbClr val="1C1C1A"/>
                          </a:solidFill>
                          <a:latin typeface="Calibri" pitchFamily="34" charset="0"/>
                          <a:ea typeface="Calibri" pitchFamily="34" charset="-122"/>
                          <a:cs typeface="Calibri" pitchFamily="34" charset="-120"/>
                        </a:rPr>
                        <a:t>Spend vs city (ANOVA)</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3F2EE"/>
                    </a:solidFill>
                  </a:tcPr>
                </a:tc>
                <a:tc>
                  <a:txBody>
                    <a:bodyPr/>
                    <a:lstStyle/>
                    <a:p>
                      <a:pPr algn="ctr" indent="0" marL="0">
                        <a:buNone/>
                      </a:pPr>
                      <a:r>
                        <a:rPr lang="en-US" sz="1300" dirty="0">
                          <a:solidFill>
                            <a:srgbClr val="1C1C1A"/>
                          </a:solidFill>
                          <a:latin typeface="Calibri" pitchFamily="34" charset="0"/>
                          <a:ea typeface="Calibri" pitchFamily="34" charset="-122"/>
                          <a:cs typeface="Calibri" pitchFamily="34" charset="-120"/>
                        </a:rPr>
                        <a:t>0.89</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3F2EE"/>
                    </a:solidFill>
                  </a:tcPr>
                </a:tc>
                <a:tc>
                  <a:txBody>
                    <a:bodyPr/>
                    <a:lstStyle/>
                    <a:p>
                      <a:pPr algn="ctr" indent="0" marL="0">
                        <a:buNone/>
                      </a:pPr>
                      <a:r>
                        <a:rPr lang="en-US" sz="1300" dirty="0">
                          <a:solidFill>
                            <a:srgbClr val="1C1C1A"/>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3F2EE"/>
                    </a:solidFill>
                  </a:tcPr>
                </a:tc>
              </a:tr>
              <a:tr h="457200">
                <a:tc>
                  <a:txBody>
                    <a:bodyPr/>
                    <a:lstStyle/>
                    <a:p>
                      <a:pPr indent="0" marL="0">
                        <a:buNone/>
                      </a:pPr>
                      <a:r>
                        <a:rPr lang="en-US" sz="1300" dirty="0">
                          <a:solidFill>
                            <a:srgbClr val="1C1C1A"/>
                          </a:solidFill>
                          <a:latin typeface="Calibri" pitchFamily="34" charset="0"/>
                          <a:ea typeface="Calibri" pitchFamily="34" charset="-122"/>
                          <a:cs typeface="Calibri" pitchFamily="34" charset="-120"/>
                        </a:rPr>
                        <a:t>Card use vs age (chi-square)</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1C1C1A"/>
                          </a:solidFill>
                          <a:latin typeface="Calibri" pitchFamily="34" charset="0"/>
                          <a:ea typeface="Calibri" pitchFamily="34" charset="-122"/>
                          <a:cs typeface="Calibri" pitchFamily="34" charset="-120"/>
                        </a:rPr>
                        <a:t>0.53</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1C1C1A"/>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5" name="kw note"/>
          <p:cNvSpPr txBox="1"/>
          <p:nvPr/>
        </p:nvSpPr>
        <p:spPr>
          <a:xfrm>
            <a:off x="457200" y="3474720"/>
            <a:ext cx="4754880" cy="457200"/>
          </a:xfrm>
          <a:prstGeom prst="rect">
            <a:avLst/>
          </a:prstGeom>
          <a:noFill/>
          <a:ln/>
        </p:spPr>
        <p:txBody>
          <a:bodyPr wrap="square" lIns="0" tIns="0" rIns="0" bIns="0" rtlCol="0" anchor="ctr"/>
          <a:lstStyle/>
          <a:p>
            <a:pPr indent="0" marL="0">
              <a:buNone/>
            </a:pPr>
            <a:r>
              <a:rPr lang="en-US" sz="1100" dirty="0">
                <a:solidFill>
                  <a:schemeClr val="tx1">
                    <a:alpha val="75000"/>
                  </a:schemeClr>
                </a:solidFill>
              </a:rPr>
              <a:t>Kruskal-Wallis (non-parametric) gives the same result: p = 0.97 / 0.83 / 0.89.</a:t>
            </a:r>
            <a:endParaRPr lang="en-US" sz="1100" dirty="0"/>
          </a:p>
        </p:txBody>
      </p:sp>
      <p:sp>
        <p:nvSpPr>
          <p:cNvPr id="6" name="card actions card"/>
          <p:cNvSpPr/>
          <p:nvPr/>
        </p:nvSpPr>
        <p:spPr>
          <a:xfrm>
            <a:off x="5486400" y="1051560"/>
            <a:ext cx="3291840" cy="3383280"/>
          </a:xfrm>
          <a:prstGeom prst="roundRect">
            <a:avLst>
              <a:gd name="adj" fmla="val 2222"/>
            </a:avLst>
          </a:prstGeom>
          <a:solidFill>
            <a:schemeClr val="bg2"/>
          </a:solidFill>
          <a:ln/>
        </p:spPr>
      </p:sp>
      <p:sp>
        <p:nvSpPr>
          <p:cNvPr id="7" name="card actions"/>
          <p:cNvSpPr txBox="1"/>
          <p:nvPr/>
        </p:nvSpPr>
        <p:spPr>
          <a:xfrm>
            <a:off x="5669280" y="1188720"/>
            <a:ext cx="2971800" cy="3108960"/>
          </a:xfrm>
          <a:prstGeom prst="rect">
            <a:avLst/>
          </a:prstGeom>
          <a:noFill/>
          <a:ln/>
        </p:spPr>
        <p:txBody>
          <a:bodyPr wrap="square" lIns="0" tIns="0" rIns="0" bIns="0" rtlCol="0" anchor="t"/>
          <a:lstStyle/>
          <a:p>
            <a:pPr indent="0" marL="0">
              <a:spcAft>
                <a:spcPts val="800"/>
              </a:spcAft>
              <a:buNone/>
            </a:pPr>
            <a:r>
              <a:rPr lang="en-US" sz="1600" b="1" dirty="0">
                <a:solidFill>
                  <a:schemeClr val="tx2"/>
                </a:solidFill>
                <a:latin typeface="Cambria" pitchFamily="34" charset="0"/>
                <a:ea typeface="Cambria" pitchFamily="34" charset="-122"/>
                <a:cs typeface="Cambria" pitchFamily="34" charset="-120"/>
              </a:rPr>
              <a:t>Card campaign actions</a:t>
            </a:r>
            <a:endParaRPr lang="en-US" sz="1300" dirty="0"/>
          </a:p>
          <a:p>
            <a:pPr marL="342900" indent="-342900">
              <a:spcAft>
                <a:spcPts val="800"/>
              </a:spcAft>
              <a:buSzPct val="100000"/>
              <a:buChar char="•"/>
            </a:pPr>
            <a:r>
              <a:rPr lang="en-US" sz="1300" dirty="0">
                <a:solidFill>
                  <a:schemeClr val="tx1"/>
                </a:solidFill>
              </a:rPr>
              <a:t>Credit-card cashback for 36–45 in Spring</a:t>
            </a:r>
            <a:endParaRPr lang="en-US" sz="1300" dirty="0"/>
          </a:p>
          <a:p>
            <a:pPr marL="342900" indent="-342900">
              <a:spcAft>
                <a:spcPts val="800"/>
              </a:spcAft>
              <a:buSzPct val="100000"/>
              <a:buChar char="•"/>
            </a:pPr>
            <a:r>
              <a:rPr lang="en-US" sz="1300" dirty="0">
                <a:solidFill>
                  <a:schemeClr val="tx1"/>
                </a:solidFill>
              </a:rPr>
              <a:t>New York Fall card campaign (top cell)</a:t>
            </a:r>
            <a:endParaRPr lang="en-US" sz="1300" dirty="0"/>
          </a:p>
          <a:p>
            <a:pPr marL="342900" indent="-342900">
              <a:spcAft>
                <a:spcPts val="800"/>
              </a:spcAft>
              <a:buSzPct val="100000"/>
              <a:buChar char="•"/>
            </a:pPr>
            <a:r>
              <a:rPr lang="en-US" sz="1300" dirty="0">
                <a:solidFill>
                  <a:schemeClr val="tx1"/>
                </a:solidFill>
              </a:rPr>
              <a:t>Winter card offers for 18–25</a:t>
            </a:r>
            <a:endParaRPr lang="en-US" sz="1300" dirty="0"/>
          </a:p>
          <a:p>
            <a:pPr marL="342900" indent="-342900">
              <a:spcAft>
                <a:spcPts val="800"/>
              </a:spcAft>
              <a:buSzPct val="100000"/>
              <a:buChar char="•"/>
            </a:pPr>
            <a:r>
              <a:rPr lang="en-US" sz="1300" dirty="0">
                <a:solidFill>
                  <a:schemeClr val="tx1"/>
                </a:solidFill>
              </a:rPr>
              <a:t>Lift card use in Miami &amp; Houston (38–39%)</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8781"/>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960120"/>
            <a:ext cx="8046720" cy="1600200"/>
          </a:xfrm>
          <a:prstGeom prst="rect">
            <a:avLst/>
          </a:prstGeom>
          <a:noFill/>
          <a:ln/>
        </p:spPr>
        <p:txBody>
          <a:bodyPr wrap="square" lIns="0" tIns="0" rIns="0" bIns="0" rtlCol="0" anchor="b"/>
          <a:lstStyle/>
          <a:p>
            <a:pPr algn="l" indent="0" marL="0">
              <a:buNone/>
            </a:pPr>
            <a:r>
              <a:rPr lang="en-US" sz="3400" b="1" dirty="0">
                <a:solidFill>
                  <a:schemeClr val="bg1"/>
                </a:solidFill>
                <a:latin typeface="Cambria" pitchFamily="34" charset="0"/>
                <a:ea typeface="Cambria" pitchFamily="34" charset="-122"/>
                <a:cs typeface="Cambria" pitchFamily="34" charset="-120"/>
              </a:rPr>
              <a:t>Task 3 · Customer clusters and campaigns</a:t>
            </a:r>
            <a:endParaRPr lang="en-US" sz="3400" dirty="0"/>
          </a:p>
        </p:txBody>
      </p:sp>
      <p:sp>
        <p:nvSpPr>
          <p:cNvPr id="3" name="Text 0"/>
          <p:cNvSpPr/>
          <p:nvPr>
            <p:ph idx="101" type="body" hasCustomPrompt="1"/>
          </p:nvPr>
        </p:nvSpPr>
        <p:spPr>
          <a:xfrm>
            <a:off x="548640" y="2743200"/>
            <a:ext cx="8046720" cy="731520"/>
          </a:xfrm>
          <a:prstGeom prst="rect">
            <a:avLst/>
          </a:prstGeom>
          <a:noFill/>
          <a:ln/>
        </p:spPr>
        <p:txBody>
          <a:bodyPr wrap="square" lIns="0" tIns="0" rIns="0" bIns="0" rtlCol="0" anchor="t"/>
          <a:lstStyle/>
          <a:p>
            <a:pPr algn="l" indent="0" marL="0">
              <a:buNone/>
            </a:pPr>
            <a:r>
              <a:rPr lang="en-US" sz="1600" dirty="0">
                <a:solidFill>
                  <a:srgbClr val="CADCFC"/>
                </a:solidFill>
              </a:rPr>
              <a:t>K-Means on two feature sets: offer response and customer value</a:t>
            </a:r>
            <a:endParaRPr lang="en-US" sz="16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Choosing K: four clusters</a:t>
            </a:r>
            <a:endParaRPr lang="en-US" sz="2600" dirty="0"/>
          </a:p>
        </p:txBody>
      </p:sp>
      <p:pic>
        <p:nvPicPr>
          <p:cNvPr id="4" name="elbow silhouette chart" descr="img/c6_0.png">    </p:cNvPr>
          <p:cNvPicPr>
            <a:picLocks noChangeAspect="1"/>
          </p:cNvPicPr>
          <p:nvPr/>
        </p:nvPicPr>
        <p:blipFill>
          <a:blip r:embed="rId1"/>
          <a:stretch>
            <a:fillRect/>
          </a:stretch>
        </p:blipFill>
        <p:spPr>
          <a:xfrm>
            <a:off x="457200" y="1005840"/>
            <a:ext cx="8229600" cy="2283357"/>
          </a:xfrm>
          <a:prstGeom prst="rect">
            <a:avLst/>
          </a:prstGeom>
        </p:spPr>
      </p:pic>
      <p:sp>
        <p:nvSpPr>
          <p:cNvPr id="5" name="k stat card 0"/>
          <p:cNvSpPr/>
          <p:nvPr/>
        </p:nvSpPr>
        <p:spPr>
          <a:xfrm>
            <a:off x="457200" y="3520440"/>
            <a:ext cx="2606040" cy="1005840"/>
          </a:xfrm>
          <a:prstGeom prst="roundRect">
            <a:avLst>
              <a:gd name="adj" fmla="val 7273"/>
            </a:avLst>
          </a:prstGeom>
          <a:solidFill>
            <a:schemeClr val="bg2"/>
          </a:solidFill>
          <a:ln/>
        </p:spPr>
      </p:sp>
      <p:sp>
        <p:nvSpPr>
          <p:cNvPr id="6" name="k stat 0"/>
          <p:cNvSpPr txBox="1"/>
          <p:nvPr/>
        </p:nvSpPr>
        <p:spPr>
          <a:xfrm>
            <a:off x="640080" y="3593592"/>
            <a:ext cx="2286000" cy="914400"/>
          </a:xfrm>
          <a:prstGeom prst="rect">
            <a:avLst/>
          </a:prstGeom>
          <a:noFill/>
          <a:ln/>
        </p:spPr>
        <p:txBody>
          <a:bodyPr wrap="square" lIns="0" tIns="0" rIns="0" bIns="0" rtlCol="0" anchor="t"/>
          <a:lstStyle/>
          <a:p>
            <a:pPr indent="0" marL="0">
              <a:buNone/>
            </a:pPr>
            <a:r>
              <a:rPr lang="en-US" sz="3000" b="1" dirty="0">
                <a:solidFill>
                  <a:srgbClr val="2A78D6"/>
                </a:solidFill>
                <a:latin typeface="Cambria" pitchFamily="34" charset="0"/>
                <a:ea typeface="Cambria" pitchFamily="34" charset="-122"/>
                <a:cs typeface="Cambria" pitchFamily="34" charset="-120"/>
              </a:rPr>
              <a:t>K = 4</a:t>
            </a:r>
            <a:endParaRPr lang="en-US" sz="3000" dirty="0"/>
          </a:p>
          <a:p>
            <a:pPr indent="0" marL="0">
              <a:buNone/>
            </a:pPr>
            <a:r>
              <a:rPr lang="en-US" sz="1200" dirty="0">
                <a:solidFill>
                  <a:schemeClr val="tx1"/>
                </a:solidFill>
              </a:rPr>
              <a:t>best silhouette among 3–5</a:t>
            </a:r>
            <a:endParaRPr lang="en-US" sz="3000" dirty="0"/>
          </a:p>
        </p:txBody>
      </p:sp>
      <p:sp>
        <p:nvSpPr>
          <p:cNvPr id="7" name="k stat card 1"/>
          <p:cNvSpPr/>
          <p:nvPr/>
        </p:nvSpPr>
        <p:spPr>
          <a:xfrm>
            <a:off x="3246120" y="3520440"/>
            <a:ext cx="2606040" cy="1005840"/>
          </a:xfrm>
          <a:prstGeom prst="roundRect">
            <a:avLst>
              <a:gd name="adj" fmla="val 7273"/>
            </a:avLst>
          </a:prstGeom>
          <a:solidFill>
            <a:schemeClr val="bg2"/>
          </a:solidFill>
          <a:ln/>
        </p:spPr>
      </p:sp>
      <p:sp>
        <p:nvSpPr>
          <p:cNvPr id="8" name="k stat 1"/>
          <p:cNvSpPr txBox="1"/>
          <p:nvPr/>
        </p:nvSpPr>
        <p:spPr>
          <a:xfrm>
            <a:off x="3429000" y="3593592"/>
            <a:ext cx="2286000" cy="914400"/>
          </a:xfrm>
          <a:prstGeom prst="rect">
            <a:avLst/>
          </a:prstGeom>
          <a:noFill/>
          <a:ln/>
        </p:spPr>
        <p:txBody>
          <a:bodyPr wrap="square" lIns="0" tIns="0" rIns="0" bIns="0" rtlCol="0" anchor="t"/>
          <a:lstStyle/>
          <a:p>
            <a:pPr indent="0" marL="0">
              <a:buNone/>
            </a:pPr>
            <a:r>
              <a:rPr lang="en-US" sz="3000" b="1" dirty="0">
                <a:solidFill>
                  <a:srgbClr val="1B2A4A"/>
                </a:solidFill>
                <a:latin typeface="Cambria" pitchFamily="34" charset="0"/>
                <a:ea typeface="Cambria" pitchFamily="34" charset="-122"/>
                <a:cs typeface="Cambria" pitchFamily="34" charset="-120"/>
              </a:rPr>
              <a:t>0.145</a:t>
            </a:r>
            <a:endParaRPr lang="en-US" sz="3000" dirty="0"/>
          </a:p>
          <a:p>
            <a:pPr indent="0" marL="0">
              <a:buNone/>
            </a:pPr>
            <a:r>
              <a:rPr lang="en-US" sz="1200" dirty="0">
                <a:solidFill>
                  <a:schemeClr val="tx1"/>
                </a:solidFill>
              </a:rPr>
              <a:t>silhouette score</a:t>
            </a:r>
            <a:endParaRPr lang="en-US" sz="3000" dirty="0"/>
          </a:p>
        </p:txBody>
      </p:sp>
      <p:sp>
        <p:nvSpPr>
          <p:cNvPr id="9" name="k stat card 2"/>
          <p:cNvSpPr/>
          <p:nvPr/>
        </p:nvSpPr>
        <p:spPr>
          <a:xfrm>
            <a:off x="6035040" y="3520440"/>
            <a:ext cx="2606040" cy="1005840"/>
          </a:xfrm>
          <a:prstGeom prst="roundRect">
            <a:avLst>
              <a:gd name="adj" fmla="val 7273"/>
            </a:avLst>
          </a:prstGeom>
          <a:solidFill>
            <a:schemeClr val="bg2"/>
          </a:solidFill>
          <a:ln/>
        </p:spPr>
      </p:sp>
      <p:sp>
        <p:nvSpPr>
          <p:cNvPr id="10" name="k stat 2"/>
          <p:cNvSpPr txBox="1"/>
          <p:nvPr/>
        </p:nvSpPr>
        <p:spPr>
          <a:xfrm>
            <a:off x="6217920" y="3593592"/>
            <a:ext cx="2286000" cy="914400"/>
          </a:xfrm>
          <a:prstGeom prst="rect">
            <a:avLst/>
          </a:prstGeom>
          <a:noFill/>
          <a:ln/>
        </p:spPr>
        <p:txBody>
          <a:bodyPr wrap="square" lIns="0" tIns="0" rIns="0" bIns="0" rtlCol="0" anchor="t"/>
          <a:lstStyle/>
          <a:p>
            <a:pPr indent="0" marL="0">
              <a:buNone/>
            </a:pPr>
            <a:r>
              <a:rPr lang="en-US" sz="3000" b="1" dirty="0">
                <a:solidFill>
                  <a:srgbClr val="1BAF7A"/>
                </a:solidFill>
                <a:latin typeface="Cambria" pitchFamily="34" charset="0"/>
                <a:ea typeface="Cambria" pitchFamily="34" charset="-122"/>
                <a:cs typeface="Cambria" pitchFamily="34" charset="-120"/>
              </a:rPr>
              <a:t>943–1,052</a:t>
            </a:r>
            <a:endParaRPr lang="en-US" sz="3000" dirty="0"/>
          </a:p>
          <a:p>
            <a:pPr indent="0" marL="0">
              <a:buNone/>
            </a:pPr>
            <a:r>
              <a:rPr lang="en-US" sz="1200" dirty="0">
                <a:solidFill>
                  <a:schemeClr val="tx1"/>
                </a:solidFill>
              </a:rPr>
              <a:t>customers per cluster</a:t>
            </a:r>
            <a:endParaRPr lang="en-US" sz="3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8781"/>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Clustering 1: segments by offer response</a:t>
            </a:r>
            <a:endParaRPr lang="en-US" sz="2600" dirty="0"/>
          </a:p>
        </p:txBody>
      </p:sp>
      <p:pic>
        <p:nvPicPr>
          <p:cNvPr id="4" name="drivers chart" descr="img/c9_0.png">    </p:cNvPr>
          <p:cNvPicPr>
            <a:picLocks noChangeAspect="1"/>
          </p:cNvPicPr>
          <p:nvPr/>
        </p:nvPicPr>
        <p:blipFill>
          <a:blip r:embed="rId1"/>
          <a:stretch>
            <a:fillRect/>
          </a:stretch>
        </p:blipFill>
        <p:spPr>
          <a:xfrm>
            <a:off x="457200" y="914400"/>
            <a:ext cx="8229600" cy="1923287"/>
          </a:xfrm>
          <a:prstGeom prst="rect">
            <a:avLst/>
          </a:prstGeom>
        </p:spPr>
      </p:pic>
      <p:graphicFrame>
        <p:nvGraphicFramePr>
          <p:cNvPr id="15" name="offer segments table"/>
          <p:cNvGraphicFramePr>
            <a:graphicFrameLocks noGrp="1"/>
          </p:cNvGraphicFramePr>
          <p:nvPr>
            <p:extLst>
              <p:ext uri="{D42A27DB-BD31-4B8C-83A1-F6EECF244321}">
                <p14:modId xmlns:p14="http://schemas.microsoft.com/office/powerpoint/2010/main" val="1579011935"/>
              </p:ext>
            </p:extLst>
          </p:nvPr>
        </p:nvGraphicFramePr>
        <p:xfrm>
          <a:off x="457200" y="2971800"/>
          <a:ext cx="8229600" cy="914400"/>
        </p:xfrm>
        <a:graphic>
          <a:graphicData uri="http://schemas.openxmlformats.org/drawingml/2006/table">
            <a:tbl>
              <a:tblPr/>
              <a:tblGrid>
                <a:gridCol w="2743200"/>
                <a:gridCol w="1280160"/>
                <a:gridCol w="1280160"/>
                <a:gridCol w="1463040"/>
                <a:gridCol w="1463040"/>
              </a:tblGrid>
              <a:tr h="329184">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Segment</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B2A4A"/>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Discount</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B2A4A"/>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Promo</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B2A4A"/>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Customers</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B2A4A"/>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Revenue</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B2A4A"/>
                    </a:solidFill>
                  </a:tcPr>
                </a:tc>
              </a:tr>
              <a:tr h="329184">
                <a:tc>
                  <a:txBody>
                    <a:bodyPr/>
                    <a:lstStyle/>
                    <a:p>
                      <a:pPr algn="l" indent="0" marL="0">
                        <a:buNone/>
                      </a:pPr>
                      <a:r>
                        <a:rPr lang="en-US" sz="1200" b="1" dirty="0">
                          <a:solidFill>
                            <a:srgbClr val="1C1C1A"/>
                          </a:solidFill>
                          <a:latin typeface="Calibri" pitchFamily="34" charset="0"/>
                          <a:ea typeface="Calibri" pitchFamily="34" charset="-122"/>
                          <a:cs typeface="Calibri" pitchFamily="34" charset="-120"/>
                        </a:rPr>
                        <a:t>Full-Price Loyalists</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3F2EE"/>
                    </a:solidFill>
                  </a:tcPr>
                </a:tc>
                <a:tc>
                  <a:txBody>
                    <a:bodyPr/>
                    <a:lstStyle/>
                    <a:p>
                      <a:pPr algn="ctr" indent="0" marL="0">
                        <a:buNone/>
                      </a:pPr>
                      <a:r>
                        <a:rPr lang="en-US" sz="1200" dirty="0">
                          <a:solidFill>
                            <a:srgbClr val="1C1C1A"/>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3F2EE"/>
                    </a:solidFill>
                  </a:tcPr>
                </a:tc>
                <a:tc>
                  <a:txBody>
                    <a:bodyPr/>
                    <a:lstStyle/>
                    <a:p>
                      <a:pPr algn="ctr" indent="0" marL="0">
                        <a:buNone/>
                      </a:pPr>
                      <a:r>
                        <a:rPr lang="en-US" sz="1200" dirty="0">
                          <a:solidFill>
                            <a:srgbClr val="1C1C1A"/>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3F2EE"/>
                    </a:solidFill>
                  </a:tcPr>
                </a:tc>
                <a:tc>
                  <a:txBody>
                    <a:bodyPr/>
                    <a:lstStyle/>
                    <a:p>
                      <a:pPr algn="ctr" indent="0" marL="0">
                        <a:buNone/>
                      </a:pPr>
                      <a:r>
                        <a:rPr lang="en-US" sz="1200" dirty="0">
                          <a:solidFill>
                            <a:srgbClr val="1C1C1A"/>
                          </a:solidFill>
                          <a:latin typeface="Calibri" pitchFamily="34" charset="0"/>
                          <a:ea typeface="Calibri" pitchFamily="34" charset="-122"/>
                          <a:cs typeface="Calibri" pitchFamily="34" charset="-120"/>
                        </a:rPr>
                        <a:t>1,052</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3F2EE"/>
                    </a:solidFill>
                  </a:tcPr>
                </a:tc>
                <a:tc>
                  <a:txBody>
                    <a:bodyPr/>
                    <a:lstStyle/>
                    <a:p>
                      <a:pPr algn="ctr" indent="0" marL="0">
                        <a:buNone/>
                      </a:pPr>
                      <a:r>
                        <a:rPr lang="en-US" sz="1200" dirty="0">
                          <a:solidFill>
                            <a:srgbClr val="1C1C1A"/>
                          </a:solidFill>
                          <a:latin typeface="Calibri" pitchFamily="34" charset="0"/>
                          <a:ea typeface="Calibri" pitchFamily="34" charset="-122"/>
                          <a:cs typeface="Calibri" pitchFamily="34" charset="-120"/>
                        </a:rPr>
                        <a:t>27%</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3F2EE"/>
                    </a:solidFill>
                  </a:tcPr>
                </a:tc>
              </a:tr>
              <a:tr h="329184">
                <a:tc>
                  <a:txBody>
                    <a:bodyPr/>
                    <a:lstStyle/>
                    <a:p>
                      <a:pPr algn="l" indent="0" marL="0">
                        <a:buNone/>
                      </a:pPr>
                      <a:r>
                        <a:rPr lang="en-US" sz="1200" b="1" dirty="0">
                          <a:solidFill>
                            <a:srgbClr val="1C1C1A"/>
                          </a:solidFill>
                          <a:latin typeface="Calibri" pitchFamily="34" charset="0"/>
                          <a:ea typeface="Calibri" pitchFamily="34" charset="-122"/>
                          <a:cs typeface="Calibri" pitchFamily="34" charset="-120"/>
                        </a:rPr>
                        <a:t>Deal Maximisers</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200" b="1" dirty="0">
                          <a:solidFill>
                            <a:srgbClr val="0A7F0A"/>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200" b="1" dirty="0">
                          <a:solidFill>
                            <a:srgbClr val="0A7F0A"/>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200" dirty="0">
                          <a:solidFill>
                            <a:srgbClr val="1C1C1A"/>
                          </a:solidFill>
                          <a:latin typeface="Calibri" pitchFamily="34" charset="0"/>
                          <a:ea typeface="Calibri" pitchFamily="34" charset="-122"/>
                          <a:cs typeface="Calibri" pitchFamily="34" charset="-120"/>
                        </a:rPr>
                        <a:t>943</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200" dirty="0">
                          <a:solidFill>
                            <a:srgbClr val="1C1C1A"/>
                          </a:solidFill>
                          <a:latin typeface="Calibri" pitchFamily="34" charset="0"/>
                          <a:ea typeface="Calibri" pitchFamily="34" charset="-122"/>
                          <a:cs typeface="Calibri" pitchFamily="34" charset="-120"/>
                        </a:rPr>
                        <a:t>24%</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329184">
                <a:tc>
                  <a:txBody>
                    <a:bodyPr/>
                    <a:lstStyle/>
                    <a:p>
                      <a:pPr algn="l" indent="0" marL="0">
                        <a:buNone/>
                      </a:pPr>
                      <a:r>
                        <a:rPr lang="en-US" sz="1200" b="1" dirty="0">
                          <a:solidFill>
                            <a:srgbClr val="1C1C1A"/>
                          </a:solidFill>
                          <a:latin typeface="Calibri" pitchFamily="34" charset="0"/>
                          <a:ea typeface="Calibri" pitchFamily="34" charset="-122"/>
                          <a:cs typeface="Calibri" pitchFamily="34" charset="-120"/>
                        </a:rPr>
                        <a:t>Promo-Code Responders</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3F2EE"/>
                    </a:solidFill>
                  </a:tcPr>
                </a:tc>
                <a:tc>
                  <a:txBody>
                    <a:bodyPr/>
                    <a:lstStyle/>
                    <a:p>
                      <a:pPr algn="ctr" indent="0" marL="0">
                        <a:buNone/>
                      </a:pPr>
                      <a:r>
                        <a:rPr lang="en-US" sz="1200" dirty="0">
                          <a:solidFill>
                            <a:srgbClr val="1C1C1A"/>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3F2EE"/>
                    </a:solidFill>
                  </a:tcPr>
                </a:tc>
                <a:tc>
                  <a:txBody>
                    <a:bodyPr/>
                    <a:lstStyle/>
                    <a:p>
                      <a:pPr algn="ctr" indent="0" marL="0">
                        <a:buNone/>
                      </a:pPr>
                      <a:r>
                        <a:rPr lang="en-US" sz="1200" b="1" dirty="0">
                          <a:solidFill>
                            <a:srgbClr val="0A7F0A"/>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3F2EE"/>
                    </a:solidFill>
                  </a:tcPr>
                </a:tc>
                <a:tc>
                  <a:txBody>
                    <a:bodyPr/>
                    <a:lstStyle/>
                    <a:p>
                      <a:pPr algn="ctr" indent="0" marL="0">
                        <a:buNone/>
                      </a:pPr>
                      <a:r>
                        <a:rPr lang="en-US" sz="1200" dirty="0">
                          <a:solidFill>
                            <a:srgbClr val="1C1C1A"/>
                          </a:solidFill>
                          <a:latin typeface="Calibri" pitchFamily="34" charset="0"/>
                          <a:ea typeface="Calibri" pitchFamily="34" charset="-122"/>
                          <a:cs typeface="Calibri" pitchFamily="34" charset="-120"/>
                        </a:rPr>
                        <a:t>951</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3F2EE"/>
                    </a:solidFill>
                  </a:tcPr>
                </a:tc>
                <a:tc>
                  <a:txBody>
                    <a:bodyPr/>
                    <a:lstStyle/>
                    <a:p>
                      <a:pPr algn="ctr" indent="0" marL="0">
                        <a:buNone/>
                      </a:pPr>
                      <a:r>
                        <a:rPr lang="en-US" sz="1200" dirty="0">
                          <a:solidFill>
                            <a:srgbClr val="1C1C1A"/>
                          </a:solidFill>
                          <a:latin typeface="Calibri" pitchFamily="34" charset="0"/>
                          <a:ea typeface="Calibri" pitchFamily="34" charset="-122"/>
                          <a:cs typeface="Calibri" pitchFamily="34" charset="-120"/>
                        </a:rPr>
                        <a:t>25%</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3F2EE"/>
                    </a:solidFill>
                  </a:tcPr>
                </a:tc>
              </a:tr>
              <a:tr h="329184">
                <a:tc>
                  <a:txBody>
                    <a:bodyPr/>
                    <a:lstStyle/>
                    <a:p>
                      <a:pPr algn="l" indent="0" marL="0">
                        <a:buNone/>
                      </a:pPr>
                      <a:r>
                        <a:rPr lang="en-US" sz="1200" b="1" dirty="0">
                          <a:solidFill>
                            <a:srgbClr val="1C1C1A"/>
                          </a:solidFill>
                          <a:latin typeface="Calibri" pitchFamily="34" charset="0"/>
                          <a:ea typeface="Calibri" pitchFamily="34" charset="-122"/>
                          <a:cs typeface="Calibri" pitchFamily="34" charset="-120"/>
                        </a:rPr>
                        <a:t>Discount-Only Shoppers</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200" b="1" dirty="0">
                          <a:solidFill>
                            <a:srgbClr val="0A7F0A"/>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200" dirty="0">
                          <a:solidFill>
                            <a:srgbClr val="1C1C1A"/>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200" dirty="0">
                          <a:solidFill>
                            <a:srgbClr val="1C1C1A"/>
                          </a:solidFill>
                          <a:latin typeface="Calibri" pitchFamily="34" charset="0"/>
                          <a:ea typeface="Calibri" pitchFamily="34" charset="-122"/>
                          <a:cs typeface="Calibri" pitchFamily="34" charset="-120"/>
                        </a:rPr>
                        <a:t>954</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200" dirty="0">
                          <a:solidFill>
                            <a:srgbClr val="1C1C1A"/>
                          </a:solidFill>
                          <a:latin typeface="Calibri" pitchFamily="34" charset="0"/>
                          <a:ea typeface="Calibri" pitchFamily="34" charset="-122"/>
                          <a:cs typeface="Calibri" pitchFamily="34" charset="-120"/>
                        </a:rPr>
                        <a:t>24%</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8781"/>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Clustering 2: segments by customer value</a:t>
            </a:r>
            <a:endParaRPr lang="en-US" sz="2600" dirty="0"/>
          </a:p>
        </p:txBody>
      </p:sp>
      <p:graphicFrame>
        <p:nvGraphicFramePr>
          <p:cNvPr id="4" name="chart value revenue" descr=""/>
          <p:cNvGraphicFramePr/>
          <p:nvPr/>
        </p:nvGraphicFramePr>
        <p:xfrm>
          <a:off x="365760" y="960120"/>
          <a:ext cx="4023360" cy="3611880"/>
        </p:xfrm>
        <a:graphic xmlns:a="http://schemas.openxmlformats.org/drawingml/2006/main">
          <a:graphicData uri="http://schemas.openxmlformats.org/drawingml/2006/chart">
            <c:chart xmlns:c="http://schemas.openxmlformats.org/drawingml/2006/chart" r:id="rId1"/>
          </a:graphicData>
        </a:graphic>
      </p:graphicFrame>
      <p:graphicFrame>
        <p:nvGraphicFramePr>
          <p:cNvPr id="16" name="value segments table"/>
          <p:cNvGraphicFramePr>
            <a:graphicFrameLocks noGrp="1"/>
          </p:cNvGraphicFramePr>
          <p:nvPr>
            <p:extLst>
              <p:ext uri="{D42A27DB-BD31-4B8C-83A1-F6EECF244321}">
                <p14:modId xmlns:p14="http://schemas.microsoft.com/office/powerpoint/2010/main" val="1579011935"/>
              </p:ext>
            </p:extLst>
          </p:nvPr>
        </p:nvGraphicFramePr>
        <p:xfrm>
          <a:off x="4572000" y="1051560"/>
          <a:ext cx="4206240" cy="914400"/>
        </p:xfrm>
        <a:graphic>
          <a:graphicData uri="http://schemas.openxmlformats.org/drawingml/2006/table">
            <a:tbl>
              <a:tblPr/>
              <a:tblGrid>
                <a:gridCol w="1600200"/>
                <a:gridCol w="685800"/>
                <a:gridCol w="640080"/>
                <a:gridCol w="640080"/>
                <a:gridCol w="640080"/>
              </a:tblGrid>
              <a:tr h="438912">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Segment</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B2A4A"/>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Size</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B2A4A"/>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$/order</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B2A4A"/>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Buys/yr</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B2A4A"/>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Rating</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B2A4A"/>
                    </a:solidFill>
                  </a:tcPr>
                </a:tc>
              </a:tr>
              <a:tr h="438912">
                <a:tc>
                  <a:txBody>
                    <a:bodyPr/>
                    <a:lstStyle/>
                    <a:p>
                      <a:pPr algn="l" indent="0" marL="0">
                        <a:buNone/>
                      </a:pPr>
                      <a:r>
                        <a:rPr lang="en-US" sz="1150" b="1" dirty="0">
                          <a:solidFill>
                            <a:srgbClr val="1C1C1A"/>
                          </a:solidFill>
                          <a:latin typeface="Calibri" pitchFamily="34" charset="0"/>
                          <a:ea typeface="Calibri" pitchFamily="34" charset="-122"/>
                          <a:cs typeface="Calibri" pitchFamily="34" charset="-120"/>
                        </a:rPr>
                        <a:t>Frequent Regulars</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3F2EE"/>
                    </a:solidFill>
                  </a:tcPr>
                </a:tc>
                <a:tc>
                  <a:txBody>
                    <a:bodyPr/>
                    <a:lstStyle/>
                    <a:p>
                      <a:pPr algn="ctr" indent="0" marL="0">
                        <a:buNone/>
                      </a:pPr>
                      <a:r>
                        <a:rPr lang="en-US" sz="1150" dirty="0">
                          <a:solidFill>
                            <a:srgbClr val="1C1C1A"/>
                          </a:solidFill>
                          <a:latin typeface="Calibri" pitchFamily="34" charset="0"/>
                          <a:ea typeface="Calibri" pitchFamily="34" charset="-122"/>
                          <a:cs typeface="Calibri" pitchFamily="34" charset="-120"/>
                        </a:rPr>
                        <a:t>1,305</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3F2EE"/>
                    </a:solidFill>
                  </a:tcPr>
                </a:tc>
                <a:tc>
                  <a:txBody>
                    <a:bodyPr/>
                    <a:lstStyle/>
                    <a:p>
                      <a:pPr algn="ctr" indent="0" marL="0">
                        <a:buNone/>
                      </a:pPr>
                      <a:r>
                        <a:rPr lang="en-US" sz="1150" dirty="0">
                          <a:solidFill>
                            <a:srgbClr val="1C1C1A"/>
                          </a:solidFill>
                          <a:latin typeface="Calibri" pitchFamily="34" charset="0"/>
                          <a:ea typeface="Calibri" pitchFamily="34" charset="-122"/>
                          <a:cs typeface="Calibri" pitchFamily="34" charset="-120"/>
                        </a:rPr>
                        <a:t>$259</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3F2EE"/>
                    </a:solidFill>
                  </a:tcPr>
                </a:tc>
                <a:tc>
                  <a:txBody>
                    <a:bodyPr/>
                    <a:lstStyle/>
                    <a:p>
                      <a:pPr algn="ctr" indent="0" marL="0">
                        <a:buNone/>
                      </a:pPr>
                      <a:r>
                        <a:rPr lang="en-US" sz="1150" dirty="0">
                          <a:solidFill>
                            <a:srgbClr val="0A7F0A"/>
                          </a:solidFill>
                          <a:latin typeface="Calibri" pitchFamily="34" charset="0"/>
                          <a:ea typeface="Calibri" pitchFamily="34" charset="-122"/>
                          <a:cs typeface="Calibri" pitchFamily="34" charset="-120"/>
                        </a:rPr>
                        <a:t>52</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3F2EE"/>
                    </a:solidFill>
                  </a:tcPr>
                </a:tc>
                <a:tc>
                  <a:txBody>
                    <a:bodyPr/>
                    <a:lstStyle/>
                    <a:p>
                      <a:pPr algn="ctr" indent="0" marL="0">
                        <a:buNone/>
                      </a:pPr>
                      <a:r>
                        <a:rPr lang="en-US" sz="1150" dirty="0">
                          <a:solidFill>
                            <a:srgbClr val="1C1C1A"/>
                          </a:solidFill>
                          <a:latin typeface="Calibri" pitchFamily="34" charset="0"/>
                          <a:ea typeface="Calibri" pitchFamily="34" charset="-122"/>
                          <a:cs typeface="Calibri" pitchFamily="34" charset="-120"/>
                        </a:rPr>
                        <a:t>3.0</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3F2EE"/>
                    </a:solidFill>
                  </a:tcPr>
                </a:tc>
              </a:tr>
              <a:tr h="438912">
                <a:tc>
                  <a:txBody>
                    <a:bodyPr/>
                    <a:lstStyle/>
                    <a:p>
                      <a:pPr algn="l" indent="0" marL="0">
                        <a:buNone/>
                      </a:pPr>
                      <a:r>
                        <a:rPr lang="en-US" sz="1150" b="1" dirty="0">
                          <a:solidFill>
                            <a:srgbClr val="1C1C1A"/>
                          </a:solidFill>
                          <a:latin typeface="Calibri" pitchFamily="34" charset="0"/>
                          <a:ea typeface="Calibri" pitchFamily="34" charset="-122"/>
                          <a:cs typeface="Calibri" pitchFamily="34" charset="-120"/>
                        </a:rPr>
                        <a:t>Big Spenders at Risk</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50" dirty="0">
                          <a:solidFill>
                            <a:srgbClr val="1C1C1A"/>
                          </a:solidFill>
                          <a:latin typeface="Calibri" pitchFamily="34" charset="0"/>
                          <a:ea typeface="Calibri" pitchFamily="34" charset="-122"/>
                          <a:cs typeface="Calibri" pitchFamily="34" charset="-120"/>
                        </a:rPr>
                        <a:t>838</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50" dirty="0">
                          <a:solidFill>
                            <a:srgbClr val="0A7F0A"/>
                          </a:solidFill>
                          <a:latin typeface="Calibri" pitchFamily="34" charset="0"/>
                          <a:ea typeface="Calibri" pitchFamily="34" charset="-122"/>
                          <a:cs typeface="Calibri" pitchFamily="34" charset="-120"/>
                        </a:rPr>
                        <a:t>$395</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50" dirty="0">
                          <a:solidFill>
                            <a:srgbClr val="1C1C1A"/>
                          </a:solidFill>
                          <a:latin typeface="Calibri" pitchFamily="34" charset="0"/>
                          <a:ea typeface="Calibri" pitchFamily="34" charset="-122"/>
                          <a:cs typeface="Calibri" pitchFamily="34" charset="-120"/>
                        </a:rPr>
                        <a:t>19</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50" dirty="0">
                          <a:solidFill>
                            <a:srgbClr val="D03B3B"/>
                          </a:solidFill>
                          <a:latin typeface="Calibri" pitchFamily="34" charset="0"/>
                          <a:ea typeface="Calibri" pitchFamily="34" charset="-122"/>
                          <a:cs typeface="Calibri" pitchFamily="34" charset="-120"/>
                        </a:rPr>
                        <a:t>2.3</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438912">
                <a:tc>
                  <a:txBody>
                    <a:bodyPr/>
                    <a:lstStyle/>
                    <a:p>
                      <a:pPr algn="l" indent="0" marL="0">
                        <a:buNone/>
                      </a:pPr>
                      <a:r>
                        <a:rPr lang="en-US" sz="1150" b="1" dirty="0">
                          <a:solidFill>
                            <a:srgbClr val="1C1C1A"/>
                          </a:solidFill>
                          <a:latin typeface="Calibri" pitchFamily="34" charset="0"/>
                          <a:ea typeface="Calibri" pitchFamily="34" charset="-122"/>
                          <a:cs typeface="Calibri" pitchFamily="34" charset="-120"/>
                        </a:rPr>
                        <a:t>Happy Occasionals</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3F2EE"/>
                    </a:solidFill>
                  </a:tcPr>
                </a:tc>
                <a:tc>
                  <a:txBody>
                    <a:bodyPr/>
                    <a:lstStyle/>
                    <a:p>
                      <a:pPr algn="ctr" indent="0" marL="0">
                        <a:buNone/>
                      </a:pPr>
                      <a:r>
                        <a:rPr lang="en-US" sz="1150" dirty="0">
                          <a:solidFill>
                            <a:srgbClr val="1C1C1A"/>
                          </a:solidFill>
                          <a:latin typeface="Calibri" pitchFamily="34" charset="0"/>
                          <a:ea typeface="Calibri" pitchFamily="34" charset="-122"/>
                          <a:cs typeface="Calibri" pitchFamily="34" charset="-120"/>
                        </a:rPr>
                        <a:t>939</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3F2EE"/>
                    </a:solidFill>
                  </a:tcPr>
                </a:tc>
                <a:tc>
                  <a:txBody>
                    <a:bodyPr/>
                    <a:lstStyle/>
                    <a:p>
                      <a:pPr algn="ctr" indent="0" marL="0">
                        <a:buNone/>
                      </a:pPr>
                      <a:r>
                        <a:rPr lang="en-US" sz="1150" dirty="0">
                          <a:solidFill>
                            <a:srgbClr val="1C1C1A"/>
                          </a:solidFill>
                          <a:latin typeface="Calibri" pitchFamily="34" charset="0"/>
                          <a:ea typeface="Calibri" pitchFamily="34" charset="-122"/>
                          <a:cs typeface="Calibri" pitchFamily="34" charset="-120"/>
                        </a:rPr>
                        <a:t>$233</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3F2EE"/>
                    </a:solidFill>
                  </a:tcPr>
                </a:tc>
                <a:tc>
                  <a:txBody>
                    <a:bodyPr/>
                    <a:lstStyle/>
                    <a:p>
                      <a:pPr algn="ctr" indent="0" marL="0">
                        <a:buNone/>
                      </a:pPr>
                      <a:r>
                        <a:rPr lang="en-US" sz="1150" dirty="0">
                          <a:solidFill>
                            <a:srgbClr val="1C1C1A"/>
                          </a:solidFill>
                          <a:latin typeface="Calibri" pitchFamily="34" charset="0"/>
                          <a:ea typeface="Calibri" pitchFamily="34" charset="-122"/>
                          <a:cs typeface="Calibri" pitchFamily="34" charset="-120"/>
                        </a:rPr>
                        <a:t>19</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3F2EE"/>
                    </a:solidFill>
                  </a:tcPr>
                </a:tc>
                <a:tc>
                  <a:txBody>
                    <a:bodyPr/>
                    <a:lstStyle/>
                    <a:p>
                      <a:pPr algn="ctr" indent="0" marL="0">
                        <a:buNone/>
                      </a:pPr>
                      <a:r>
                        <a:rPr lang="en-US" sz="1150" dirty="0">
                          <a:solidFill>
                            <a:srgbClr val="0A7F0A"/>
                          </a:solidFill>
                          <a:latin typeface="Calibri" pitchFamily="34" charset="0"/>
                          <a:ea typeface="Calibri" pitchFamily="34" charset="-122"/>
                          <a:cs typeface="Calibri" pitchFamily="34" charset="-120"/>
                        </a:rPr>
                        <a:t>4.6</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3F2EE"/>
                    </a:solidFill>
                  </a:tcPr>
                </a:tc>
              </a:tr>
              <a:tr h="438912">
                <a:tc>
                  <a:txBody>
                    <a:bodyPr/>
                    <a:lstStyle/>
                    <a:p>
                      <a:pPr algn="l" indent="0" marL="0">
                        <a:buNone/>
                      </a:pPr>
                      <a:r>
                        <a:rPr lang="en-US" sz="1150" b="1" dirty="0">
                          <a:solidFill>
                            <a:srgbClr val="1C1C1A"/>
                          </a:solidFill>
                          <a:latin typeface="Calibri" pitchFamily="34" charset="0"/>
                          <a:ea typeface="Calibri" pitchFamily="34" charset="-122"/>
                          <a:cs typeface="Calibri" pitchFamily="34" charset="-120"/>
                        </a:rPr>
                        <a:t>Unhappy Bargain Buyers</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50" dirty="0">
                          <a:solidFill>
                            <a:srgbClr val="1C1C1A"/>
                          </a:solidFill>
                          <a:latin typeface="Calibri" pitchFamily="34" charset="0"/>
                          <a:ea typeface="Calibri" pitchFamily="34" charset="-122"/>
                          <a:cs typeface="Calibri" pitchFamily="34" charset="-120"/>
                        </a:rPr>
                        <a:t>818</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50" dirty="0">
                          <a:solidFill>
                            <a:srgbClr val="1C1C1A"/>
                          </a:solidFill>
                          <a:latin typeface="Calibri" pitchFamily="34" charset="0"/>
                          <a:ea typeface="Calibri" pitchFamily="34" charset="-122"/>
                          <a:cs typeface="Calibri" pitchFamily="34" charset="-120"/>
                        </a:rPr>
                        <a:t>$134</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50" dirty="0">
                          <a:solidFill>
                            <a:srgbClr val="1C1C1A"/>
                          </a:solidFill>
                          <a:latin typeface="Calibri" pitchFamily="34" charset="0"/>
                          <a:ea typeface="Calibri" pitchFamily="34" charset="-122"/>
                          <a:cs typeface="Calibri" pitchFamily="34" charset="-120"/>
                        </a:rPr>
                        <a:t>19</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50" dirty="0">
                          <a:solidFill>
                            <a:srgbClr val="D03B3B"/>
                          </a:solidFill>
                          <a:latin typeface="Calibri" pitchFamily="34" charset="0"/>
                          <a:ea typeface="Calibri" pitchFamily="34" charset="-122"/>
                          <a:cs typeface="Calibri" pitchFamily="34" charset="-120"/>
                        </a:rPr>
                        <a:t>2.0</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6" name="value drivers card"/>
          <p:cNvSpPr/>
          <p:nvPr/>
        </p:nvSpPr>
        <p:spPr>
          <a:xfrm>
            <a:off x="4572000" y="3383280"/>
            <a:ext cx="4206240" cy="1143000"/>
          </a:xfrm>
          <a:prstGeom prst="roundRect">
            <a:avLst>
              <a:gd name="adj" fmla="val 6400"/>
            </a:avLst>
          </a:prstGeom>
          <a:solidFill>
            <a:schemeClr val="bg2"/>
          </a:solidFill>
          <a:ln/>
        </p:spPr>
      </p:sp>
      <p:sp>
        <p:nvSpPr>
          <p:cNvPr id="7" name="value drivers"/>
          <p:cNvSpPr txBox="1"/>
          <p:nvPr/>
        </p:nvSpPr>
        <p:spPr>
          <a:xfrm>
            <a:off x="4709160" y="3429000"/>
            <a:ext cx="3931920" cy="1051560"/>
          </a:xfrm>
          <a:prstGeom prst="rect">
            <a:avLst/>
          </a:prstGeom>
          <a:noFill/>
          <a:ln/>
        </p:spPr>
        <p:txBody>
          <a:bodyPr wrap="square" lIns="0" tIns="0" rIns="0" bIns="0" rtlCol="0" anchor="ctr"/>
          <a:lstStyle/>
          <a:p>
            <a:pPr indent="0" marL="0">
              <a:buNone/>
            </a:pPr>
            <a:r>
              <a:rPr lang="en-US" sz="1200" b="1" dirty="0">
                <a:solidFill>
                  <a:schemeClr val="tx2"/>
                </a:solidFill>
              </a:rPr>
              <a:t>Dominant factors: </a:t>
            </a:r>
            <a:pPr indent="0" marL="0">
              <a:buNone/>
            </a:pPr>
            <a:r>
              <a:rPr lang="en-US" sz="1200" dirty="0">
                <a:solidFill>
                  <a:schemeClr val="tx1"/>
                </a:solidFill>
              </a:rPr>
              <a:t>purchase frequency, order value and rating. Age and previous purchases don't separate customers. Offer use is spread evenly across all value segments.</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8781"/>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Targeted campaigns for each value segment</a:t>
            </a:r>
            <a:endParaRPr lang="en-US" sz="2600" dirty="0"/>
          </a:p>
        </p:txBody>
      </p:sp>
      <p:sp>
        <p:nvSpPr>
          <p:cNvPr id="4" name="campaign card 0"/>
          <p:cNvSpPr/>
          <p:nvPr/>
        </p:nvSpPr>
        <p:spPr>
          <a:xfrm>
            <a:off x="457200" y="960120"/>
            <a:ext cx="4023360" cy="1691640"/>
          </a:xfrm>
          <a:prstGeom prst="roundRect">
            <a:avLst>
              <a:gd name="adj" fmla="val 4324"/>
            </a:avLst>
          </a:prstGeom>
          <a:solidFill>
            <a:schemeClr val="bg2"/>
          </a:solidFill>
          <a:ln/>
        </p:spPr>
      </p:sp>
      <p:sp>
        <p:nvSpPr>
          <p:cNvPr id="5" name="campaign dot 0"/>
          <p:cNvSpPr/>
          <p:nvPr/>
        </p:nvSpPr>
        <p:spPr>
          <a:xfrm>
            <a:off x="640080" y="1143000"/>
            <a:ext cx="292608" cy="292608"/>
          </a:xfrm>
          <a:prstGeom prst="ellipse">
            <a:avLst/>
          </a:prstGeom>
          <a:solidFill>
            <a:srgbClr val="2A78D6"/>
          </a:solidFill>
          <a:ln/>
        </p:spPr>
      </p:sp>
      <p:sp>
        <p:nvSpPr>
          <p:cNvPr id="6" name="campaign head 0"/>
          <p:cNvSpPr txBox="1"/>
          <p:nvPr/>
        </p:nvSpPr>
        <p:spPr>
          <a:xfrm>
            <a:off x="1051560" y="1051560"/>
            <a:ext cx="3291840" cy="548640"/>
          </a:xfrm>
          <a:prstGeom prst="rect">
            <a:avLst/>
          </a:prstGeom>
          <a:noFill/>
          <a:ln/>
        </p:spPr>
        <p:txBody>
          <a:bodyPr wrap="square" lIns="0" tIns="0" rIns="0" bIns="0" rtlCol="0" anchor="ctr"/>
          <a:lstStyle/>
          <a:p>
            <a:pPr indent="0" marL="0">
              <a:buNone/>
            </a:pPr>
            <a:r>
              <a:rPr lang="en-US" sz="1500" b="1" dirty="0">
                <a:solidFill>
                  <a:schemeClr val="tx2"/>
                </a:solidFill>
              </a:rPr>
              <a:t>Frequent Regulars</a:t>
            </a:r>
            <a:endParaRPr lang="en-US" sz="1500" dirty="0"/>
          </a:p>
          <a:p>
            <a:pPr indent="0" marL="0">
              <a:buNone/>
            </a:pPr>
            <a:r>
              <a:rPr lang="en-US" sz="1100" dirty="0">
                <a:solidFill>
                  <a:srgbClr val="52514E"/>
                </a:solidFill>
              </a:rPr>
              <a:t>34% revenue · weekly</a:t>
            </a:r>
            <a:endParaRPr lang="en-US" sz="1500" dirty="0"/>
          </a:p>
        </p:txBody>
      </p:sp>
      <p:sp>
        <p:nvSpPr>
          <p:cNvPr id="7" name="campaign items 0"/>
          <p:cNvSpPr txBox="1"/>
          <p:nvPr/>
        </p:nvSpPr>
        <p:spPr>
          <a:xfrm>
            <a:off x="685800" y="1673352"/>
            <a:ext cx="3657600" cy="91440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Loyalty points + free express shipping</a:t>
            </a:r>
            <a:endParaRPr lang="en-US" sz="1200" dirty="0"/>
          </a:p>
          <a:p>
            <a:pPr marL="342900" indent="-342900">
              <a:spcAft>
                <a:spcPts val="300"/>
              </a:spcAft>
              <a:buSzPct val="100000"/>
              <a:buChar char="•"/>
            </a:pPr>
            <a:r>
              <a:rPr lang="en-US" sz="1200" dirty="0">
                <a:solidFill>
                  <a:schemeClr val="tx1"/>
                </a:solidFill>
              </a:rPr>
              <a:t>Bundles to grow basket size</a:t>
            </a:r>
            <a:endParaRPr lang="en-US" sz="1200" dirty="0"/>
          </a:p>
          <a:p>
            <a:pPr marL="342900" indent="-342900">
              <a:spcAft>
                <a:spcPts val="300"/>
              </a:spcAft>
              <a:buSzPct val="100000"/>
              <a:buChar char="•"/>
            </a:pPr>
            <a:r>
              <a:rPr lang="en-US" sz="1200" dirty="0">
                <a:solidFill>
                  <a:schemeClr val="tx1"/>
                </a:solidFill>
              </a:rPr>
              <a:t>No deep discounts</a:t>
            </a:r>
            <a:endParaRPr lang="en-US" sz="1200" dirty="0"/>
          </a:p>
        </p:txBody>
      </p:sp>
      <p:sp>
        <p:nvSpPr>
          <p:cNvPr id="8" name="campaign card 1"/>
          <p:cNvSpPr/>
          <p:nvPr/>
        </p:nvSpPr>
        <p:spPr>
          <a:xfrm>
            <a:off x="4663440" y="960120"/>
            <a:ext cx="4023360" cy="1691640"/>
          </a:xfrm>
          <a:prstGeom prst="roundRect">
            <a:avLst>
              <a:gd name="adj" fmla="val 4324"/>
            </a:avLst>
          </a:prstGeom>
          <a:solidFill>
            <a:schemeClr val="bg2"/>
          </a:solidFill>
          <a:ln/>
        </p:spPr>
      </p:sp>
      <p:sp>
        <p:nvSpPr>
          <p:cNvPr id="9" name="campaign dot 1"/>
          <p:cNvSpPr/>
          <p:nvPr/>
        </p:nvSpPr>
        <p:spPr>
          <a:xfrm>
            <a:off x="4846320" y="1143000"/>
            <a:ext cx="292608" cy="292608"/>
          </a:xfrm>
          <a:prstGeom prst="ellipse">
            <a:avLst/>
          </a:prstGeom>
          <a:solidFill>
            <a:srgbClr val="EB6834"/>
          </a:solidFill>
          <a:ln/>
        </p:spPr>
      </p:sp>
      <p:sp>
        <p:nvSpPr>
          <p:cNvPr id="10" name="campaign head 1"/>
          <p:cNvSpPr txBox="1"/>
          <p:nvPr/>
        </p:nvSpPr>
        <p:spPr>
          <a:xfrm>
            <a:off x="5257800" y="1051560"/>
            <a:ext cx="3291840" cy="548640"/>
          </a:xfrm>
          <a:prstGeom prst="rect">
            <a:avLst/>
          </a:prstGeom>
          <a:noFill/>
          <a:ln/>
        </p:spPr>
        <p:txBody>
          <a:bodyPr wrap="square" lIns="0" tIns="0" rIns="0" bIns="0" rtlCol="0" anchor="ctr"/>
          <a:lstStyle/>
          <a:p>
            <a:pPr indent="0" marL="0">
              <a:buNone/>
            </a:pPr>
            <a:r>
              <a:rPr lang="en-US" sz="1500" b="1" dirty="0">
                <a:solidFill>
                  <a:schemeClr val="tx2"/>
                </a:solidFill>
              </a:rPr>
              <a:t>Big Spenders at Risk</a:t>
            </a:r>
            <a:endParaRPr lang="en-US" sz="1500" dirty="0"/>
          </a:p>
          <a:p>
            <a:pPr indent="0" marL="0">
              <a:buNone/>
            </a:pPr>
            <a:r>
              <a:rPr lang="en-US" sz="1100" dirty="0">
                <a:solidFill>
                  <a:srgbClr val="52514E"/>
                </a:solidFill>
              </a:rPr>
              <a:t>33% revenue · rating 2.3</a:t>
            </a:r>
            <a:endParaRPr lang="en-US" sz="1500" dirty="0"/>
          </a:p>
        </p:txBody>
      </p:sp>
      <p:sp>
        <p:nvSpPr>
          <p:cNvPr id="11" name="campaign items 1"/>
          <p:cNvSpPr txBox="1"/>
          <p:nvPr/>
        </p:nvSpPr>
        <p:spPr>
          <a:xfrm>
            <a:off x="4892040" y="1673352"/>
            <a:ext cx="3657600" cy="91440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Post-purchase follow-up &amp; quality guarantee</a:t>
            </a:r>
            <a:endParaRPr lang="en-US" sz="1200" dirty="0"/>
          </a:p>
          <a:p>
            <a:pPr marL="342900" indent="-342900">
              <a:spcAft>
                <a:spcPts val="300"/>
              </a:spcAft>
              <a:buSzPct val="100000"/>
              <a:buChar char="•"/>
            </a:pPr>
            <a:r>
              <a:rPr lang="en-US" sz="1200" dirty="0">
                <a:solidFill>
                  <a:schemeClr val="tx1"/>
                </a:solidFill>
              </a:rPr>
              <a:t>VIP service, early access to new lines</a:t>
            </a:r>
            <a:endParaRPr lang="en-US" sz="1200" dirty="0"/>
          </a:p>
          <a:p>
            <a:pPr marL="342900" indent="-342900">
              <a:spcAft>
                <a:spcPts val="300"/>
              </a:spcAft>
              <a:buSzPct val="100000"/>
              <a:buChar char="•"/>
            </a:pPr>
            <a:r>
              <a:rPr lang="en-US" sz="1200" dirty="0">
                <a:solidFill>
                  <a:schemeClr val="tx1"/>
                </a:solidFill>
              </a:rPr>
              <a:t>Win-back voucher after a low rating</a:t>
            </a:r>
            <a:endParaRPr lang="en-US" sz="1200" dirty="0"/>
          </a:p>
        </p:txBody>
      </p:sp>
      <p:sp>
        <p:nvSpPr>
          <p:cNvPr id="12" name="campaign card 2"/>
          <p:cNvSpPr/>
          <p:nvPr/>
        </p:nvSpPr>
        <p:spPr>
          <a:xfrm>
            <a:off x="457200" y="2788920"/>
            <a:ext cx="4023360" cy="1691640"/>
          </a:xfrm>
          <a:prstGeom prst="roundRect">
            <a:avLst>
              <a:gd name="adj" fmla="val 4324"/>
            </a:avLst>
          </a:prstGeom>
          <a:solidFill>
            <a:schemeClr val="bg2"/>
          </a:solidFill>
          <a:ln/>
        </p:spPr>
      </p:sp>
      <p:sp>
        <p:nvSpPr>
          <p:cNvPr id="13" name="campaign dot 2"/>
          <p:cNvSpPr/>
          <p:nvPr/>
        </p:nvSpPr>
        <p:spPr>
          <a:xfrm>
            <a:off x="640080" y="2971800"/>
            <a:ext cx="292608" cy="292608"/>
          </a:xfrm>
          <a:prstGeom prst="ellipse">
            <a:avLst/>
          </a:prstGeom>
          <a:solidFill>
            <a:srgbClr val="1BAF7A"/>
          </a:solidFill>
          <a:ln/>
        </p:spPr>
      </p:sp>
      <p:sp>
        <p:nvSpPr>
          <p:cNvPr id="14" name="campaign head 2"/>
          <p:cNvSpPr txBox="1"/>
          <p:nvPr/>
        </p:nvSpPr>
        <p:spPr>
          <a:xfrm>
            <a:off x="1051560" y="2880360"/>
            <a:ext cx="3291840" cy="548640"/>
          </a:xfrm>
          <a:prstGeom prst="rect">
            <a:avLst/>
          </a:prstGeom>
          <a:noFill/>
          <a:ln/>
        </p:spPr>
        <p:txBody>
          <a:bodyPr wrap="square" lIns="0" tIns="0" rIns="0" bIns="0" rtlCol="0" anchor="ctr"/>
          <a:lstStyle/>
          <a:p>
            <a:pPr indent="0" marL="0">
              <a:buNone/>
            </a:pPr>
            <a:r>
              <a:rPr lang="en-US" sz="1500" b="1" dirty="0">
                <a:solidFill>
                  <a:schemeClr val="tx2"/>
                </a:solidFill>
              </a:rPr>
              <a:t>Happy Occasionals</a:t>
            </a:r>
            <a:endParaRPr lang="en-US" sz="1500" dirty="0"/>
          </a:p>
          <a:p>
            <a:pPr indent="0" marL="0">
              <a:buNone/>
            </a:pPr>
            <a:r>
              <a:rPr lang="en-US" sz="1100" dirty="0">
                <a:solidFill>
                  <a:srgbClr val="52514E"/>
                </a:solidFill>
              </a:rPr>
              <a:t>22% revenue · rating 4.6</a:t>
            </a:r>
            <a:endParaRPr lang="en-US" sz="1500" dirty="0"/>
          </a:p>
        </p:txBody>
      </p:sp>
      <p:sp>
        <p:nvSpPr>
          <p:cNvPr id="15" name="campaign items 2"/>
          <p:cNvSpPr txBox="1"/>
          <p:nvPr/>
        </p:nvSpPr>
        <p:spPr>
          <a:xfrm>
            <a:off x="685800" y="3502152"/>
            <a:ext cx="3657600" cy="91440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Reminder emails on a monthly cycle</a:t>
            </a:r>
            <a:endParaRPr lang="en-US" sz="1200" dirty="0"/>
          </a:p>
          <a:p>
            <a:pPr marL="342900" indent="-342900">
              <a:spcAft>
                <a:spcPts val="300"/>
              </a:spcAft>
              <a:buSzPct val="100000"/>
              <a:buChar char="•"/>
            </a:pPr>
            <a:r>
              <a:rPr lang="en-US" sz="1200" dirty="0">
                <a:solidFill>
                  <a:schemeClr val="tx1"/>
                </a:solidFill>
              </a:rPr>
              <a:t>“Give $10, get $10” referrals</a:t>
            </a:r>
            <a:endParaRPr lang="en-US" sz="1200" dirty="0"/>
          </a:p>
          <a:p>
            <a:pPr marL="342900" indent="-342900">
              <a:spcAft>
                <a:spcPts val="300"/>
              </a:spcAft>
              <a:buSzPct val="100000"/>
              <a:buChar char="•"/>
            </a:pPr>
            <a:r>
              <a:rPr lang="en-US" sz="1200" dirty="0">
                <a:solidFill>
                  <a:schemeClr val="tx1"/>
                </a:solidFill>
              </a:rPr>
              <a:t>Ask for reviews &amp; testimonials</a:t>
            </a:r>
            <a:endParaRPr lang="en-US" sz="1200" dirty="0"/>
          </a:p>
        </p:txBody>
      </p:sp>
      <p:sp>
        <p:nvSpPr>
          <p:cNvPr id="16" name="campaign card 3"/>
          <p:cNvSpPr/>
          <p:nvPr/>
        </p:nvSpPr>
        <p:spPr>
          <a:xfrm>
            <a:off x="4663440" y="2788920"/>
            <a:ext cx="4023360" cy="1691640"/>
          </a:xfrm>
          <a:prstGeom prst="roundRect">
            <a:avLst>
              <a:gd name="adj" fmla="val 4324"/>
            </a:avLst>
          </a:prstGeom>
          <a:solidFill>
            <a:schemeClr val="bg2"/>
          </a:solidFill>
          <a:ln/>
        </p:spPr>
      </p:sp>
      <p:sp>
        <p:nvSpPr>
          <p:cNvPr id="17" name="campaign dot 3"/>
          <p:cNvSpPr/>
          <p:nvPr/>
        </p:nvSpPr>
        <p:spPr>
          <a:xfrm>
            <a:off x="4846320" y="2971800"/>
            <a:ext cx="292608" cy="292608"/>
          </a:xfrm>
          <a:prstGeom prst="ellipse">
            <a:avLst/>
          </a:prstGeom>
          <a:solidFill>
            <a:srgbClr val="EDA100"/>
          </a:solidFill>
          <a:ln/>
        </p:spPr>
      </p:sp>
      <p:sp>
        <p:nvSpPr>
          <p:cNvPr id="18" name="campaign head 3"/>
          <p:cNvSpPr txBox="1"/>
          <p:nvPr/>
        </p:nvSpPr>
        <p:spPr>
          <a:xfrm>
            <a:off x="5257800" y="2880360"/>
            <a:ext cx="3291840" cy="548640"/>
          </a:xfrm>
          <a:prstGeom prst="rect">
            <a:avLst/>
          </a:prstGeom>
          <a:noFill/>
          <a:ln/>
        </p:spPr>
        <p:txBody>
          <a:bodyPr wrap="square" lIns="0" tIns="0" rIns="0" bIns="0" rtlCol="0" anchor="ctr"/>
          <a:lstStyle/>
          <a:p>
            <a:pPr indent="0" marL="0">
              <a:buNone/>
            </a:pPr>
            <a:r>
              <a:rPr lang="en-US" sz="1500" b="1" dirty="0">
                <a:solidFill>
                  <a:schemeClr val="tx2"/>
                </a:solidFill>
              </a:rPr>
              <a:t>Unhappy Bargain Buyers</a:t>
            </a:r>
            <a:endParaRPr lang="en-US" sz="1500" dirty="0"/>
          </a:p>
          <a:p>
            <a:pPr indent="0" marL="0">
              <a:buNone/>
            </a:pPr>
            <a:r>
              <a:rPr lang="en-US" sz="1100" dirty="0">
                <a:solidFill>
                  <a:srgbClr val="52514E"/>
                </a:solidFill>
              </a:rPr>
              <a:t>11% revenue · $134/order</a:t>
            </a:r>
            <a:endParaRPr lang="en-US" sz="1500" dirty="0"/>
          </a:p>
        </p:txBody>
      </p:sp>
      <p:sp>
        <p:nvSpPr>
          <p:cNvPr id="19" name="campaign items 3"/>
          <p:cNvSpPr txBox="1"/>
          <p:nvPr/>
        </p:nvSpPr>
        <p:spPr>
          <a:xfrm>
            <a:off x="4892040" y="3502152"/>
            <a:ext cx="3657600" cy="91440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Discounts on entry-level items</a:t>
            </a:r>
            <a:endParaRPr lang="en-US" sz="1200" dirty="0"/>
          </a:p>
          <a:p>
            <a:pPr marL="342900" indent="-342900">
              <a:spcAft>
                <a:spcPts val="300"/>
              </a:spcAft>
              <a:buSzPct val="100000"/>
              <a:buChar char="•"/>
            </a:pPr>
            <a:r>
              <a:rPr lang="en-US" sz="1200" dirty="0">
                <a:solidFill>
                  <a:schemeClr val="tx1"/>
                </a:solidFill>
              </a:rPr>
              <a:t>Short survey + coupon reward</a:t>
            </a:r>
            <a:endParaRPr lang="en-US" sz="1200" dirty="0"/>
          </a:p>
          <a:p>
            <a:pPr marL="342900" indent="-342900">
              <a:spcAft>
                <a:spcPts val="300"/>
              </a:spcAft>
              <a:buSzPct val="100000"/>
              <a:buChar char="•"/>
            </a:pPr>
            <a:r>
              <a:rPr lang="en-US" sz="1200" dirty="0">
                <a:solidFill>
                  <a:schemeClr val="tx1"/>
                </a:solidFill>
              </a:rPr>
              <a:t>Keep marketing spend low</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8781"/>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Combined strategy: who to target × which offer</a:t>
            </a:r>
            <a:endParaRPr lang="en-US" sz="2600" dirty="0"/>
          </a:p>
        </p:txBody>
      </p:sp>
      <p:graphicFrame>
        <p:nvGraphicFramePr>
          <p:cNvPr id="18" name="strategy matrix"/>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914400"/>
        </p:xfrm>
        <a:graphic>
          <a:graphicData uri="http://schemas.openxmlformats.org/drawingml/2006/table">
            <a:tbl>
              <a:tblPr/>
              <a:tblGrid>
                <a:gridCol w="1828800"/>
                <a:gridCol w="1600200"/>
                <a:gridCol w="1600200"/>
                <a:gridCol w="1600200"/>
                <a:gridCol w="1600200"/>
              </a:tblGrid>
              <a:tr h="566928">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1B2A4A"/>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Full-price</a:t>
                      </a:r>
                      <a:endParaRPr lang="en-US" sz="1200" dirty="0">
                        <a:latin typeface="Calibri" charset="0"/>
                        <a:ea typeface="Calibri" charset="0"/>
                        <a:cs typeface="Calibri" charset="0"/>
                      </a:endParaRPr>
                    </a:p>
                  </a:txBody>
                  <a:tcPr marL="91440" marR="91440" marT="45720" marB="4572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1B2A4A"/>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Deal maximiser</a:t>
                      </a:r>
                      <a:endParaRPr lang="en-US" sz="1200" dirty="0">
                        <a:latin typeface="Calibri" charset="0"/>
                        <a:ea typeface="Calibri" charset="0"/>
                        <a:cs typeface="Calibri" charset="0"/>
                      </a:endParaRPr>
                    </a:p>
                  </a:txBody>
                  <a:tcPr marL="91440" marR="91440" marT="45720" marB="4572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1B2A4A"/>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Promo-code</a:t>
                      </a:r>
                      <a:endParaRPr lang="en-US" sz="1200" dirty="0">
                        <a:latin typeface="Calibri" charset="0"/>
                        <a:ea typeface="Calibri" charset="0"/>
                        <a:cs typeface="Calibri" charset="0"/>
                      </a:endParaRPr>
                    </a:p>
                  </a:txBody>
                  <a:tcPr marL="91440" marR="91440" marT="45720" marB="4572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1B2A4A"/>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Discount-only</a:t>
                      </a:r>
                      <a:endParaRPr lang="en-US" sz="1200" dirty="0">
                        <a:latin typeface="Calibri" charset="0"/>
                        <a:ea typeface="Calibri" charset="0"/>
                        <a:cs typeface="Calibri" charset="0"/>
                      </a:endParaRPr>
                    </a:p>
                  </a:txBody>
                  <a:tcPr marL="91440" marR="91440" marT="45720" marB="4572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1B2A4A"/>
                    </a:solidFill>
                  </a:tcPr>
                </a:tc>
              </a:tr>
              <a:tr h="566928">
                <a:tc>
                  <a:txBody>
                    <a:bodyPr/>
                    <a:lstStyle/>
                    <a:p>
                      <a:pPr algn="l" indent="0" marL="0">
                        <a:buNone/>
                      </a:pPr>
                      <a:r>
                        <a:rPr lang="en-US" sz="1200" b="1" dirty="0">
                          <a:solidFill>
                            <a:srgbClr val="1C1C1A"/>
                          </a:solidFill>
                          <a:latin typeface="Calibri" pitchFamily="34" charset="0"/>
                          <a:ea typeface="Calibri" pitchFamily="34" charset="-122"/>
                          <a:cs typeface="Calibri" pitchFamily="34" charset="-120"/>
                        </a:rPr>
                        <a:t>Frequent Regulars</a:t>
                      </a:r>
                      <a:endParaRPr lang="en-US" sz="1200" dirty="0">
                        <a:latin typeface="Calibri" charset="0"/>
                        <a:ea typeface="Calibri" charset="0"/>
                        <a:cs typeface="Calibri" charset="0"/>
                      </a:endParaRPr>
                    </a:p>
                  </a:txBody>
                  <a:tcPr marL="91440" marR="91440" marT="45720" marB="4572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3F2EE"/>
                    </a:solidFill>
                  </a:tcPr>
                </a:tc>
                <a:tc>
                  <a:txBody>
                    <a:bodyPr/>
                    <a:lstStyle/>
                    <a:p>
                      <a:pPr algn="ctr" indent="0" marL="0">
                        <a:buNone/>
                      </a:pPr>
                      <a:r>
                        <a:rPr lang="en-US" sz="1200" dirty="0">
                          <a:solidFill>
                            <a:srgbClr val="1C1C1A"/>
                          </a:solidFill>
                          <a:latin typeface="Calibri" pitchFamily="34" charset="0"/>
                          <a:ea typeface="Calibri" pitchFamily="34" charset="-122"/>
                          <a:cs typeface="Calibri" pitchFamily="34" charset="-120"/>
                        </a:rPr>
                        <a:t>Loyalty points, no offers</a:t>
                      </a:r>
                      <a:endParaRPr lang="en-US" sz="1200" dirty="0">
                        <a:latin typeface="Calibri" charset="0"/>
                        <a:ea typeface="Calibri" charset="0"/>
                        <a:cs typeface="Calibri" charset="0"/>
                      </a:endParaRPr>
                    </a:p>
                  </a:txBody>
                  <a:tcPr marL="91440" marR="91440" marT="45720" marB="4572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9F9F7"/>
                    </a:solidFill>
                  </a:tcPr>
                </a:tc>
                <a:tc>
                  <a:txBody>
                    <a:bodyPr/>
                    <a:lstStyle/>
                    <a:p>
                      <a:pPr algn="ctr" indent="0" marL="0">
                        <a:buNone/>
                      </a:pPr>
                      <a:r>
                        <a:rPr lang="en-US" sz="1200" dirty="0">
                          <a:solidFill>
                            <a:srgbClr val="1C1C1A"/>
                          </a:solidFill>
                          <a:latin typeface="Calibri" pitchFamily="34" charset="0"/>
                          <a:ea typeface="Calibri" pitchFamily="34" charset="-122"/>
                          <a:cs typeface="Calibri" pitchFamily="34" charset="-120"/>
                        </a:rPr>
                        <a:t>Bundle tiers</a:t>
                      </a:r>
                      <a:endParaRPr lang="en-US" sz="1200" dirty="0">
                        <a:latin typeface="Calibri" charset="0"/>
                        <a:ea typeface="Calibri" charset="0"/>
                        <a:cs typeface="Calibri" charset="0"/>
                      </a:endParaRPr>
                    </a:p>
                  </a:txBody>
                  <a:tcPr marL="91440" marR="91440" marT="45720" marB="4572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9F9F7"/>
                    </a:solidFill>
                  </a:tcPr>
                </a:tc>
                <a:tc>
                  <a:txBody>
                    <a:bodyPr/>
                    <a:lstStyle/>
                    <a:p>
                      <a:pPr algn="ctr" indent="0" marL="0">
                        <a:buNone/>
                      </a:pPr>
                      <a:r>
                        <a:rPr lang="en-US" sz="1200" dirty="0">
                          <a:solidFill>
                            <a:srgbClr val="1C1C1A"/>
                          </a:solidFill>
                          <a:latin typeface="Calibri" pitchFamily="34" charset="0"/>
                          <a:ea typeface="Calibri" pitchFamily="34" charset="-122"/>
                          <a:cs typeface="Calibri" pitchFamily="34" charset="-120"/>
                        </a:rPr>
                        <a:t>Weekly personal codes</a:t>
                      </a:r>
                      <a:endParaRPr lang="en-US" sz="1200" dirty="0">
                        <a:latin typeface="Calibri" charset="0"/>
                        <a:ea typeface="Calibri" charset="0"/>
                        <a:cs typeface="Calibri" charset="0"/>
                      </a:endParaRPr>
                    </a:p>
                  </a:txBody>
                  <a:tcPr marL="91440" marR="91440" marT="45720" marB="4572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9F9F7"/>
                    </a:solidFill>
                  </a:tcPr>
                </a:tc>
                <a:tc>
                  <a:txBody>
                    <a:bodyPr/>
                    <a:lstStyle/>
                    <a:p>
                      <a:pPr algn="ctr" indent="0" marL="0">
                        <a:buNone/>
                      </a:pPr>
                      <a:r>
                        <a:rPr lang="en-US" sz="1200" dirty="0">
                          <a:solidFill>
                            <a:srgbClr val="1C1C1A"/>
                          </a:solidFill>
                          <a:latin typeface="Calibri" pitchFamily="34" charset="0"/>
                          <a:ea typeface="Calibri" pitchFamily="34" charset="-122"/>
                          <a:cs typeface="Calibri" pitchFamily="34" charset="-120"/>
                        </a:rPr>
                        <a:t>Member-only sales</a:t>
                      </a:r>
                      <a:endParaRPr lang="en-US" sz="1200" dirty="0">
                        <a:latin typeface="Calibri" charset="0"/>
                        <a:ea typeface="Calibri" charset="0"/>
                        <a:cs typeface="Calibri" charset="0"/>
                      </a:endParaRPr>
                    </a:p>
                  </a:txBody>
                  <a:tcPr marL="91440" marR="91440" marT="45720" marB="4572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9F9F7"/>
                    </a:solidFill>
                  </a:tcPr>
                </a:tc>
              </a:tr>
              <a:tr h="566928">
                <a:tc>
                  <a:txBody>
                    <a:bodyPr/>
                    <a:lstStyle/>
                    <a:p>
                      <a:pPr algn="l" indent="0" marL="0">
                        <a:buNone/>
                      </a:pPr>
                      <a:r>
                        <a:rPr lang="en-US" sz="1200" b="1" dirty="0">
                          <a:solidFill>
                            <a:srgbClr val="1C1C1A"/>
                          </a:solidFill>
                          <a:latin typeface="Calibri" pitchFamily="34" charset="0"/>
                          <a:ea typeface="Calibri" pitchFamily="34" charset="-122"/>
                          <a:cs typeface="Calibri" pitchFamily="34" charset="-120"/>
                        </a:rPr>
                        <a:t>Big Spenders at Risk</a:t>
                      </a:r>
                      <a:endParaRPr lang="en-US" sz="1200" dirty="0">
                        <a:latin typeface="Calibri" charset="0"/>
                        <a:ea typeface="Calibri" charset="0"/>
                        <a:cs typeface="Calibri" charset="0"/>
                      </a:endParaRPr>
                    </a:p>
                  </a:txBody>
                  <a:tcPr marL="91440" marR="91440" marT="45720" marB="4572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3F2EE"/>
                    </a:solidFill>
                  </a:tcPr>
                </a:tc>
                <a:tc>
                  <a:txBody>
                    <a:bodyPr/>
                    <a:lstStyle/>
                    <a:p>
                      <a:pPr algn="ctr" indent="0" marL="0">
                        <a:buNone/>
                      </a:pPr>
                      <a:r>
                        <a:rPr lang="en-US" sz="1200" dirty="0">
                          <a:solidFill>
                            <a:srgbClr val="1C1C1A"/>
                          </a:solidFill>
                          <a:latin typeface="Calibri" pitchFamily="34" charset="0"/>
                          <a:ea typeface="Calibri" pitchFamily="34" charset="-122"/>
                          <a:cs typeface="Calibri" pitchFamily="34" charset="-120"/>
                        </a:rPr>
                        <a:t>VIP service &amp; guarantee</a:t>
                      </a:r>
                      <a:endParaRPr lang="en-US" sz="1200" dirty="0">
                        <a:latin typeface="Calibri" charset="0"/>
                        <a:ea typeface="Calibri" charset="0"/>
                        <a:cs typeface="Calibri" charset="0"/>
                      </a:endParaRPr>
                    </a:p>
                  </a:txBody>
                  <a:tcPr marL="91440" marR="91440" marT="45720" marB="4572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C1C1A"/>
                          </a:solidFill>
                          <a:latin typeface="Calibri" pitchFamily="34" charset="0"/>
                          <a:ea typeface="Calibri" pitchFamily="34" charset="-122"/>
                          <a:cs typeface="Calibri" pitchFamily="34" charset="-120"/>
                        </a:rPr>
                        <a:t>Premium bundles</a:t>
                      </a:r>
                      <a:endParaRPr lang="en-US" sz="1200" dirty="0">
                        <a:latin typeface="Calibri" charset="0"/>
                        <a:ea typeface="Calibri" charset="0"/>
                        <a:cs typeface="Calibri" charset="0"/>
                      </a:endParaRPr>
                    </a:p>
                  </a:txBody>
                  <a:tcPr marL="91440" marR="91440" marT="45720" marB="4572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C1C1A"/>
                          </a:solidFill>
                          <a:latin typeface="Calibri" pitchFamily="34" charset="0"/>
                          <a:ea typeface="Calibri" pitchFamily="34" charset="-122"/>
                          <a:cs typeface="Calibri" pitchFamily="34" charset="-120"/>
                        </a:rPr>
                        <a:t>VIP code after bad review</a:t>
                      </a:r>
                      <a:endParaRPr lang="en-US" sz="1200" dirty="0">
                        <a:latin typeface="Calibri" charset="0"/>
                        <a:ea typeface="Calibri" charset="0"/>
                        <a:cs typeface="Calibri" charset="0"/>
                      </a:endParaRPr>
                    </a:p>
                  </a:txBody>
                  <a:tcPr marL="91440" marR="91440" marT="45720" marB="4572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C1C1A"/>
                          </a:solidFill>
                          <a:latin typeface="Calibri" pitchFamily="34" charset="0"/>
                          <a:ea typeface="Calibri" pitchFamily="34" charset="-122"/>
                          <a:cs typeface="Calibri" pitchFamily="34" charset="-120"/>
                        </a:rPr>
                        <a:t>Early sale access</a:t>
                      </a:r>
                      <a:endParaRPr lang="en-US" sz="1200" dirty="0">
                        <a:latin typeface="Calibri" charset="0"/>
                        <a:ea typeface="Calibri" charset="0"/>
                        <a:cs typeface="Calibri" charset="0"/>
                      </a:endParaRPr>
                    </a:p>
                  </a:txBody>
                  <a:tcPr marL="91440" marR="91440" marT="45720" marB="4572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r>
              <a:tr h="566928">
                <a:tc>
                  <a:txBody>
                    <a:bodyPr/>
                    <a:lstStyle/>
                    <a:p>
                      <a:pPr algn="l" indent="0" marL="0">
                        <a:buNone/>
                      </a:pPr>
                      <a:r>
                        <a:rPr lang="en-US" sz="1200" b="1" dirty="0">
                          <a:solidFill>
                            <a:srgbClr val="1C1C1A"/>
                          </a:solidFill>
                          <a:latin typeface="Calibri" pitchFamily="34" charset="0"/>
                          <a:ea typeface="Calibri" pitchFamily="34" charset="-122"/>
                          <a:cs typeface="Calibri" pitchFamily="34" charset="-120"/>
                        </a:rPr>
                        <a:t>Happy Occasionals</a:t>
                      </a:r>
                      <a:endParaRPr lang="en-US" sz="1200" dirty="0">
                        <a:latin typeface="Calibri" charset="0"/>
                        <a:ea typeface="Calibri" charset="0"/>
                        <a:cs typeface="Calibri" charset="0"/>
                      </a:endParaRPr>
                    </a:p>
                  </a:txBody>
                  <a:tcPr marL="91440" marR="91440" marT="45720" marB="4572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3F2EE"/>
                    </a:solidFill>
                  </a:tcPr>
                </a:tc>
                <a:tc>
                  <a:txBody>
                    <a:bodyPr/>
                    <a:lstStyle/>
                    <a:p>
                      <a:pPr algn="ctr" indent="0" marL="0">
                        <a:buNone/>
                      </a:pPr>
                      <a:r>
                        <a:rPr lang="en-US" sz="1200" dirty="0">
                          <a:solidFill>
                            <a:srgbClr val="1C1C1A"/>
                          </a:solidFill>
                          <a:latin typeface="Calibri" pitchFamily="34" charset="0"/>
                          <a:ea typeface="Calibri" pitchFamily="34" charset="-122"/>
                          <a:cs typeface="Calibri" pitchFamily="34" charset="-120"/>
                        </a:rPr>
                        <a:t>Referral programme</a:t>
                      </a:r>
                      <a:endParaRPr lang="en-US" sz="1200" dirty="0">
                        <a:latin typeface="Calibri" charset="0"/>
                        <a:ea typeface="Calibri" charset="0"/>
                        <a:cs typeface="Calibri" charset="0"/>
                      </a:endParaRPr>
                    </a:p>
                  </a:txBody>
                  <a:tcPr marL="91440" marR="91440" marT="45720" marB="4572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9F9F7"/>
                    </a:solidFill>
                  </a:tcPr>
                </a:tc>
                <a:tc>
                  <a:txBody>
                    <a:bodyPr/>
                    <a:lstStyle/>
                    <a:p>
                      <a:pPr algn="ctr" indent="0" marL="0">
                        <a:buNone/>
                      </a:pPr>
                      <a:r>
                        <a:rPr lang="en-US" sz="1200" dirty="0">
                          <a:solidFill>
                            <a:srgbClr val="1C1C1A"/>
                          </a:solidFill>
                          <a:latin typeface="Calibri" pitchFamily="34" charset="0"/>
                          <a:ea typeface="Calibri" pitchFamily="34" charset="-122"/>
                          <a:cs typeface="Calibri" pitchFamily="34" charset="-120"/>
                        </a:rPr>
                        <a:t>Seasonal deals</a:t>
                      </a:r>
                      <a:endParaRPr lang="en-US" sz="1200" dirty="0">
                        <a:latin typeface="Calibri" charset="0"/>
                        <a:ea typeface="Calibri" charset="0"/>
                        <a:cs typeface="Calibri" charset="0"/>
                      </a:endParaRPr>
                    </a:p>
                  </a:txBody>
                  <a:tcPr marL="91440" marR="91440" marT="45720" marB="4572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9F9F7"/>
                    </a:solidFill>
                  </a:tcPr>
                </a:tc>
                <a:tc>
                  <a:txBody>
                    <a:bodyPr/>
                    <a:lstStyle/>
                    <a:p>
                      <a:pPr algn="ctr" indent="0" marL="0">
                        <a:buNone/>
                      </a:pPr>
                      <a:r>
                        <a:rPr lang="en-US" sz="1200" dirty="0">
                          <a:solidFill>
                            <a:srgbClr val="1C1C1A"/>
                          </a:solidFill>
                          <a:latin typeface="Calibri" pitchFamily="34" charset="0"/>
                          <a:ea typeface="Calibri" pitchFamily="34" charset="-122"/>
                          <a:cs typeface="Calibri" pitchFamily="34" charset="-120"/>
                        </a:rPr>
                        <a:t>Comeback codes</a:t>
                      </a:r>
                      <a:endParaRPr lang="en-US" sz="1200" dirty="0">
                        <a:latin typeface="Calibri" charset="0"/>
                        <a:ea typeface="Calibri" charset="0"/>
                        <a:cs typeface="Calibri" charset="0"/>
                      </a:endParaRPr>
                    </a:p>
                  </a:txBody>
                  <a:tcPr marL="91440" marR="91440" marT="45720" marB="4572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9F9F7"/>
                    </a:solidFill>
                  </a:tcPr>
                </a:tc>
                <a:tc>
                  <a:txBody>
                    <a:bodyPr/>
                    <a:lstStyle/>
                    <a:p>
                      <a:pPr algn="ctr" indent="0" marL="0">
                        <a:buNone/>
                      </a:pPr>
                      <a:r>
                        <a:rPr lang="en-US" sz="1200" dirty="0">
                          <a:solidFill>
                            <a:srgbClr val="1C1C1A"/>
                          </a:solidFill>
                          <a:latin typeface="Calibri" pitchFamily="34" charset="0"/>
                          <a:ea typeface="Calibri" pitchFamily="34" charset="-122"/>
                          <a:cs typeface="Calibri" pitchFamily="34" charset="-120"/>
                        </a:rPr>
                        <a:t>Price-drop alerts</a:t>
                      </a:r>
                      <a:endParaRPr lang="en-US" sz="1200" dirty="0">
                        <a:latin typeface="Calibri" charset="0"/>
                        <a:ea typeface="Calibri" charset="0"/>
                        <a:cs typeface="Calibri" charset="0"/>
                      </a:endParaRPr>
                    </a:p>
                  </a:txBody>
                  <a:tcPr marL="91440" marR="91440" marT="45720" marB="4572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9F9F7"/>
                    </a:solidFill>
                  </a:tcPr>
                </a:tc>
              </a:tr>
              <a:tr h="566928">
                <a:tc>
                  <a:txBody>
                    <a:bodyPr/>
                    <a:lstStyle/>
                    <a:p>
                      <a:pPr algn="l" indent="0" marL="0">
                        <a:buNone/>
                      </a:pPr>
                      <a:r>
                        <a:rPr lang="en-US" sz="1200" b="1" dirty="0">
                          <a:solidFill>
                            <a:srgbClr val="1C1C1A"/>
                          </a:solidFill>
                          <a:latin typeface="Calibri" pitchFamily="34" charset="0"/>
                          <a:ea typeface="Calibri" pitchFamily="34" charset="-122"/>
                          <a:cs typeface="Calibri" pitchFamily="34" charset="-120"/>
                        </a:rPr>
                        <a:t>Unhappy Bargain Buyers</a:t>
                      </a:r>
                      <a:endParaRPr lang="en-US" sz="1200" dirty="0">
                        <a:latin typeface="Calibri" charset="0"/>
                        <a:ea typeface="Calibri" charset="0"/>
                        <a:cs typeface="Calibri" charset="0"/>
                      </a:endParaRPr>
                    </a:p>
                  </a:txBody>
                  <a:tcPr marL="91440" marR="91440" marT="45720" marB="4572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3F2EE"/>
                    </a:solidFill>
                  </a:tcPr>
                </a:tc>
                <a:tc>
                  <a:txBody>
                    <a:bodyPr/>
                    <a:lstStyle/>
                    <a:p>
                      <a:pPr algn="ctr" indent="0" marL="0">
                        <a:buNone/>
                      </a:pPr>
                      <a:r>
                        <a:rPr lang="en-US" sz="1200" dirty="0">
                          <a:solidFill>
                            <a:srgbClr val="1C1C1A"/>
                          </a:solidFill>
                          <a:latin typeface="Calibri" pitchFamily="34" charset="0"/>
                          <a:ea typeface="Calibri" pitchFamily="34" charset="-122"/>
                          <a:cs typeface="Calibri" pitchFamily="34" charset="-120"/>
                        </a:rPr>
                        <a:t>Survey, fix issues</a:t>
                      </a:r>
                      <a:endParaRPr lang="en-US" sz="1200" dirty="0">
                        <a:latin typeface="Calibri" charset="0"/>
                        <a:ea typeface="Calibri" charset="0"/>
                        <a:cs typeface="Calibri" charset="0"/>
                      </a:endParaRPr>
                    </a:p>
                  </a:txBody>
                  <a:tcPr marL="91440" marR="91440" marT="45720" marB="4572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C1C1A"/>
                          </a:solidFill>
                          <a:latin typeface="Calibri" pitchFamily="34" charset="0"/>
                          <a:ea typeface="Calibri" pitchFamily="34" charset="-122"/>
                          <a:cs typeface="Calibri" pitchFamily="34" charset="-120"/>
                        </a:rPr>
                        <a:t>Entry-level bundles</a:t>
                      </a:r>
                      <a:endParaRPr lang="en-US" sz="1200" dirty="0">
                        <a:latin typeface="Calibri" charset="0"/>
                        <a:ea typeface="Calibri" charset="0"/>
                        <a:cs typeface="Calibri" charset="0"/>
                      </a:endParaRPr>
                    </a:p>
                  </a:txBody>
                  <a:tcPr marL="91440" marR="91440" marT="45720" marB="4572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C1C1A"/>
                          </a:solidFill>
                          <a:latin typeface="Calibri" pitchFamily="34" charset="0"/>
                          <a:ea typeface="Calibri" pitchFamily="34" charset="-122"/>
                          <a:cs typeface="Calibri" pitchFamily="34" charset="-120"/>
                        </a:rPr>
                        <a:t>Survey-reward codes</a:t>
                      </a:r>
                      <a:endParaRPr lang="en-US" sz="1200" dirty="0">
                        <a:latin typeface="Calibri" charset="0"/>
                        <a:ea typeface="Calibri" charset="0"/>
                        <a:cs typeface="Calibri" charset="0"/>
                      </a:endParaRPr>
                    </a:p>
                  </a:txBody>
                  <a:tcPr marL="91440" marR="91440" marT="45720" marB="4572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C1C1A"/>
                          </a:solidFill>
                          <a:latin typeface="Calibri" pitchFamily="34" charset="0"/>
                          <a:ea typeface="Calibri" pitchFamily="34" charset="-122"/>
                          <a:cs typeface="Calibri" pitchFamily="34" charset="-120"/>
                        </a:rPr>
                        <a:t>Clearance items</a:t>
                      </a:r>
                      <a:endParaRPr lang="en-US" sz="1200" dirty="0">
                        <a:latin typeface="Calibri" charset="0"/>
                        <a:ea typeface="Calibri" charset="0"/>
                        <a:cs typeface="Calibri" charset="0"/>
                      </a:endParaRPr>
                    </a:p>
                  </a:txBody>
                  <a:tcPr marL="91440" marR="91440" marT="45720" marB="4572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r>
            </a:tbl>
          </a:graphicData>
        </a:graphic>
      </p:graphicFrame>
      <p:sp>
        <p:nvSpPr>
          <p:cNvPr id="5" name="matrix note"/>
          <p:cNvSpPr txBox="1"/>
          <p:nvPr/>
        </p:nvSpPr>
        <p:spPr>
          <a:xfrm>
            <a:off x="457200" y="4023360"/>
            <a:ext cx="8229600" cy="457200"/>
          </a:xfrm>
          <a:prstGeom prst="rect">
            <a:avLst/>
          </a:prstGeom>
          <a:noFill/>
          <a:ln/>
        </p:spPr>
        <p:txBody>
          <a:bodyPr wrap="square" lIns="0" tIns="0" rIns="0" bIns="0" rtlCol="0" anchor="ctr"/>
          <a:lstStyle/>
          <a:p>
            <a:pPr indent="0" marL="0">
              <a:buNone/>
            </a:pPr>
            <a:r>
              <a:rPr lang="en-US" sz="1150" dirty="0">
                <a:solidFill>
                  <a:schemeClr val="tx1">
                    <a:alpha val="80000"/>
                  </a:schemeClr>
                </a:solidFill>
              </a:rPr>
              <a:t>Rows: value segments (who). Columns: offer-response segments (which offer). Run discount offers in Fall, full-price launches in Spring.</a:t>
            </a:r>
            <a:endParaRPr lang="en-US" sz="115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8781"/>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Conclusions, limitations and next steps</a:t>
            </a:r>
            <a:endParaRPr lang="en-US" sz="2600" dirty="0"/>
          </a:p>
        </p:txBody>
      </p:sp>
      <p:sp>
        <p:nvSpPr>
          <p:cNvPr id="4" name="conclusion card 0"/>
          <p:cNvSpPr/>
          <p:nvPr/>
        </p:nvSpPr>
        <p:spPr>
          <a:xfrm>
            <a:off x="457200" y="1005840"/>
            <a:ext cx="2606040" cy="3520440"/>
          </a:xfrm>
          <a:prstGeom prst="roundRect">
            <a:avLst>
              <a:gd name="adj" fmla="val 2807"/>
            </a:avLst>
          </a:prstGeom>
          <a:solidFill>
            <a:schemeClr val="bg2"/>
          </a:solidFill>
          <a:ln/>
        </p:spPr>
      </p:sp>
      <p:sp>
        <p:nvSpPr>
          <p:cNvPr id="5" name="conclusion dot 0"/>
          <p:cNvSpPr/>
          <p:nvPr/>
        </p:nvSpPr>
        <p:spPr>
          <a:xfrm>
            <a:off x="658368" y="1188720"/>
            <a:ext cx="274320" cy="274320"/>
          </a:xfrm>
          <a:prstGeom prst="ellipse">
            <a:avLst/>
          </a:prstGeom>
          <a:solidFill>
            <a:srgbClr val="2A78D6"/>
          </a:solidFill>
          <a:ln/>
        </p:spPr>
      </p:sp>
      <p:sp>
        <p:nvSpPr>
          <p:cNvPr id="6" name="conclusion head 0"/>
          <p:cNvSpPr txBox="1"/>
          <p:nvPr/>
        </p:nvSpPr>
        <p:spPr>
          <a:xfrm>
            <a:off x="1024128" y="1115568"/>
            <a:ext cx="1920240" cy="411480"/>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Key takeaways</a:t>
            </a:r>
            <a:endParaRPr lang="en-US" sz="1600" dirty="0"/>
          </a:p>
        </p:txBody>
      </p:sp>
      <p:sp>
        <p:nvSpPr>
          <p:cNvPr id="7" name="conclusion items 0"/>
          <p:cNvSpPr txBox="1"/>
          <p:nvPr/>
        </p:nvSpPr>
        <p:spPr>
          <a:xfrm>
            <a:off x="658368" y="1691640"/>
            <a:ext cx="2240280" cy="27432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1"/>
                </a:solidFill>
              </a:rPr>
              <a:t>Discount Sports; bundle Clothing; fix Home Decor quality</a:t>
            </a:r>
            <a:endParaRPr lang="en-US" sz="1300" dirty="0"/>
          </a:p>
          <a:p>
            <a:pPr marL="342900" indent="-342900">
              <a:spcAft>
                <a:spcPts val="800"/>
              </a:spcAft>
              <a:buSzPct val="100000"/>
              <a:buChar char="•"/>
            </a:pPr>
            <a:r>
              <a:rPr lang="en-US" sz="1300" dirty="0">
                <a:solidFill>
                  <a:schemeClr val="tx1"/>
                </a:solidFill>
              </a:rPr>
              <a:t>Card volume peaks with 36–45, Spring, New York</a:t>
            </a:r>
            <a:endParaRPr lang="en-US" sz="1300" dirty="0"/>
          </a:p>
          <a:p>
            <a:pPr marL="342900" indent="-342900">
              <a:spcAft>
                <a:spcPts val="800"/>
              </a:spcAft>
              <a:buSzPct val="100000"/>
              <a:buChar char="•"/>
            </a:pPr>
            <a:r>
              <a:rPr lang="en-US" sz="1300" dirty="0">
                <a:solidFill>
                  <a:schemeClr val="tx1"/>
                </a:solidFill>
              </a:rPr>
              <a:t>Frequency, order value &amp; rating drive customer value</a:t>
            </a:r>
            <a:endParaRPr lang="en-US" sz="1300" dirty="0"/>
          </a:p>
          <a:p>
            <a:pPr marL="342900" indent="-342900">
              <a:spcAft>
                <a:spcPts val="800"/>
              </a:spcAft>
              <a:buSzPct val="100000"/>
              <a:buChar char="•"/>
            </a:pPr>
            <a:r>
              <a:rPr lang="en-US" sz="1300" dirty="0">
                <a:solidFill>
                  <a:schemeClr val="tx1"/>
                </a:solidFill>
              </a:rPr>
              <a:t>33% of revenue is with unhappy big spenders</a:t>
            </a:r>
            <a:endParaRPr lang="en-US" sz="1300" dirty="0"/>
          </a:p>
        </p:txBody>
      </p:sp>
      <p:sp>
        <p:nvSpPr>
          <p:cNvPr id="8" name="conclusion card 1"/>
          <p:cNvSpPr/>
          <p:nvPr/>
        </p:nvSpPr>
        <p:spPr>
          <a:xfrm>
            <a:off x="3246120" y="1005840"/>
            <a:ext cx="2606040" cy="3520440"/>
          </a:xfrm>
          <a:prstGeom prst="roundRect">
            <a:avLst>
              <a:gd name="adj" fmla="val 2807"/>
            </a:avLst>
          </a:prstGeom>
          <a:solidFill>
            <a:schemeClr val="bg2"/>
          </a:solidFill>
          <a:ln/>
        </p:spPr>
      </p:sp>
      <p:sp>
        <p:nvSpPr>
          <p:cNvPr id="9" name="conclusion dot 1"/>
          <p:cNvSpPr/>
          <p:nvPr/>
        </p:nvSpPr>
        <p:spPr>
          <a:xfrm>
            <a:off x="3447288" y="1188720"/>
            <a:ext cx="274320" cy="274320"/>
          </a:xfrm>
          <a:prstGeom prst="ellipse">
            <a:avLst/>
          </a:prstGeom>
          <a:solidFill>
            <a:srgbClr val="EB6834"/>
          </a:solidFill>
          <a:ln/>
        </p:spPr>
      </p:sp>
      <p:sp>
        <p:nvSpPr>
          <p:cNvPr id="10" name="conclusion head 1"/>
          <p:cNvSpPr txBox="1"/>
          <p:nvPr/>
        </p:nvSpPr>
        <p:spPr>
          <a:xfrm>
            <a:off x="3813048" y="1115568"/>
            <a:ext cx="1920240" cy="411480"/>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Limitations</a:t>
            </a:r>
            <a:endParaRPr lang="en-US" sz="1600" dirty="0"/>
          </a:p>
        </p:txBody>
      </p:sp>
      <p:sp>
        <p:nvSpPr>
          <p:cNvPr id="11" name="conclusion items 1"/>
          <p:cNvSpPr txBox="1"/>
          <p:nvPr/>
        </p:nvSpPr>
        <p:spPr>
          <a:xfrm>
            <a:off x="3447288" y="1691640"/>
            <a:ext cx="2240280" cy="27432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1"/>
                </a:solidFill>
              </a:rPr>
              <a:t>Small differences between groups</a:t>
            </a:r>
            <a:endParaRPr lang="en-US" sz="1300" dirty="0"/>
          </a:p>
          <a:p>
            <a:pPr marL="342900" indent="-342900">
              <a:spcAft>
                <a:spcPts val="800"/>
              </a:spcAft>
              <a:buSzPct val="100000"/>
              <a:buChar char="•"/>
            </a:pPr>
            <a:r>
              <a:rPr lang="en-US" sz="1300" dirty="0">
                <a:solidFill>
                  <a:schemeClr val="tx1"/>
                </a:solidFill>
              </a:rPr>
              <a:t>Low silhouette (0.15): segments overlap</a:t>
            </a:r>
            <a:endParaRPr lang="en-US" sz="1300" dirty="0"/>
          </a:p>
          <a:p>
            <a:pPr marL="342900" indent="-342900">
              <a:spcAft>
                <a:spcPts val="800"/>
              </a:spcAft>
              <a:buSzPct val="100000"/>
              <a:buChar char="•"/>
            </a:pPr>
            <a:r>
              <a:rPr lang="en-US" sz="1300" dirty="0">
                <a:solidFill>
                  <a:schemeClr val="tx1"/>
                </a:solidFill>
              </a:rPr>
              <a:t>Item–category labels are inconsistent</a:t>
            </a:r>
            <a:endParaRPr lang="en-US" sz="1300" dirty="0"/>
          </a:p>
          <a:p>
            <a:pPr marL="342900" indent="-342900">
              <a:spcAft>
                <a:spcPts val="800"/>
              </a:spcAft>
              <a:buSzPct val="100000"/>
              <a:buChar char="•"/>
            </a:pPr>
            <a:r>
              <a:rPr lang="en-US" sz="1300" dirty="0">
                <a:solidFill>
                  <a:schemeClr val="tx1"/>
                </a:solidFill>
              </a:rPr>
              <a:t>No dates, so no trend analysis</a:t>
            </a:r>
            <a:endParaRPr lang="en-US" sz="1300" dirty="0"/>
          </a:p>
        </p:txBody>
      </p:sp>
      <p:sp>
        <p:nvSpPr>
          <p:cNvPr id="12" name="conclusion card 2"/>
          <p:cNvSpPr/>
          <p:nvPr/>
        </p:nvSpPr>
        <p:spPr>
          <a:xfrm>
            <a:off x="6035040" y="1005840"/>
            <a:ext cx="2606040" cy="3520440"/>
          </a:xfrm>
          <a:prstGeom prst="roundRect">
            <a:avLst>
              <a:gd name="adj" fmla="val 2807"/>
            </a:avLst>
          </a:prstGeom>
          <a:solidFill>
            <a:schemeClr val="bg2"/>
          </a:solidFill>
          <a:ln/>
        </p:spPr>
      </p:sp>
      <p:sp>
        <p:nvSpPr>
          <p:cNvPr id="13" name="conclusion dot 2"/>
          <p:cNvSpPr/>
          <p:nvPr/>
        </p:nvSpPr>
        <p:spPr>
          <a:xfrm>
            <a:off x="6236208" y="1188720"/>
            <a:ext cx="274320" cy="274320"/>
          </a:xfrm>
          <a:prstGeom prst="ellipse">
            <a:avLst/>
          </a:prstGeom>
          <a:solidFill>
            <a:srgbClr val="1BAF7A"/>
          </a:solidFill>
          <a:ln/>
        </p:spPr>
      </p:sp>
      <p:sp>
        <p:nvSpPr>
          <p:cNvPr id="14" name="conclusion head 2"/>
          <p:cNvSpPr txBox="1"/>
          <p:nvPr/>
        </p:nvSpPr>
        <p:spPr>
          <a:xfrm>
            <a:off x="6601968" y="1115568"/>
            <a:ext cx="1920240" cy="411480"/>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Next steps</a:t>
            </a:r>
            <a:endParaRPr lang="en-US" sz="1600" dirty="0"/>
          </a:p>
        </p:txBody>
      </p:sp>
      <p:sp>
        <p:nvSpPr>
          <p:cNvPr id="15" name="conclusion items 2"/>
          <p:cNvSpPr txBox="1"/>
          <p:nvPr/>
        </p:nvSpPr>
        <p:spPr>
          <a:xfrm>
            <a:off x="6236208" y="1691640"/>
            <a:ext cx="2240280" cy="27432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1"/>
                </a:solidFill>
              </a:rPr>
              <a:t>A/B-test each campaign</a:t>
            </a:r>
            <a:endParaRPr lang="en-US" sz="1300" dirty="0"/>
          </a:p>
          <a:p>
            <a:pPr marL="342900" indent="-342900">
              <a:spcAft>
                <a:spcPts val="800"/>
              </a:spcAft>
              <a:buSzPct val="100000"/>
              <a:buChar char="•"/>
            </a:pPr>
            <a:r>
              <a:rPr lang="en-US" sz="1300" dirty="0">
                <a:solidFill>
                  <a:schemeClr val="tx1"/>
                </a:solidFill>
              </a:rPr>
              <a:t>Track revenue per segment quarterly</a:t>
            </a:r>
            <a:endParaRPr lang="en-US" sz="1300" dirty="0"/>
          </a:p>
          <a:p>
            <a:pPr marL="342900" indent="-342900">
              <a:spcAft>
                <a:spcPts val="800"/>
              </a:spcAft>
              <a:buSzPct val="100000"/>
              <a:buChar char="•"/>
            </a:pPr>
            <a:r>
              <a:rPr lang="en-US" sz="1300" dirty="0">
                <a:solidFill>
                  <a:schemeClr val="tx1"/>
                </a:solidFill>
              </a:rPr>
              <a:t>Collect satisfaction reasons</a:t>
            </a:r>
            <a:endParaRPr lang="en-US" sz="1300" dirty="0"/>
          </a:p>
          <a:p>
            <a:pPr marL="342900" indent="-342900">
              <a:spcAft>
                <a:spcPts val="800"/>
              </a:spcAft>
              <a:buSzPct val="100000"/>
              <a:buChar char="•"/>
            </a:pPr>
            <a:r>
              <a:rPr lang="en-US" sz="1300" dirty="0">
                <a:solidFill>
                  <a:schemeClr val="tx1"/>
                </a:solidFill>
              </a:rPr>
              <a:t>Add transaction dates &amp; re-cluster</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8781"/>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188720"/>
          </a:xfrm>
          <a:prstGeom prst="rect">
            <a:avLst/>
          </a:prstGeom>
          <a:noFill/>
          <a:ln/>
        </p:spPr>
        <p:txBody>
          <a:bodyPr wrap="square" lIns="0" tIns="0" rIns="0" bIns="0" rtlCol="0" anchor="b"/>
          <a:lstStyle/>
          <a:p>
            <a:pPr algn="l" indent="0" marL="0">
              <a:buNone/>
            </a:pPr>
            <a:r>
              <a:rPr lang="en-US" sz="3800" b="1" dirty="0">
                <a:solidFill>
                  <a:schemeClr val="bg1"/>
                </a:solidFill>
                <a:latin typeface="Cambria" pitchFamily="34" charset="0"/>
                <a:ea typeface="Cambria" pitchFamily="34" charset="-122"/>
                <a:cs typeface="Cambria" pitchFamily="34" charset="-120"/>
              </a:rPr>
              <a:t>Thank you</a:t>
            </a:r>
            <a:endParaRPr lang="en-US" sz="3800" dirty="0"/>
          </a:p>
        </p:txBody>
      </p:sp>
      <p:sp>
        <p:nvSpPr>
          <p:cNvPr id="3" name="Text 0"/>
          <p:cNvSpPr/>
          <p:nvPr>
            <p:ph idx="101" type="body" hasCustomPrompt="1"/>
          </p:nvPr>
        </p:nvSpPr>
        <p:spPr>
          <a:xfrm>
            <a:off x="548640" y="2743200"/>
            <a:ext cx="8046720" cy="1463040"/>
          </a:xfrm>
          <a:prstGeom prst="rect">
            <a:avLst/>
          </a:prstGeom>
          <a:noFill/>
          <a:ln/>
        </p:spPr>
        <p:txBody>
          <a:bodyPr wrap="square" lIns="0" tIns="0" rIns="0" bIns="0" rtlCol="0" anchor="t"/>
          <a:lstStyle/>
          <a:p>
            <a:pPr algn="l" indent="0" marL="0">
              <a:buNone/>
            </a:pPr>
            <a:r>
              <a:rPr lang="en-US" sz="1600" dirty="0">
                <a:solidFill>
                  <a:srgbClr val="CADCFC"/>
                </a:solidFill>
              </a:rPr>
              <a:t>Questions &amp; discussion</a:t>
            </a:r>
            <a:endParaRPr lang="en-US" sz="1600" dirty="0"/>
          </a:p>
          <a:p>
            <a:pPr algn="l" indent="0" marL="0">
              <a:buNone/>
            </a:pPr>
            <a:r>
              <a:rPr lang="en-US" sz="1600" b="1" dirty="0">
                <a:solidFill>
                  <a:srgbClr val="FFFFFF"/>
                </a:solidFill>
              </a:rPr>
              <a:t>Team 5 · CDACL-002 Customer Segmentation</a:t>
            </a:r>
            <a:endParaRPr lang="en-US" sz="1600" dirty="0"/>
          </a:p>
        </p:txBody>
      </p:sp>
    </p:spTree>
  </p:cSld>
  <p:clrMapOvr>
    <a:masterClrMapping/>
  </p:clrMapOvr>
</p:sld>
</file>

<file path=ppt/theme/theme1.xml><?xml version="1.0" encoding="utf-8"?>
<a:theme xmlns:a="http://schemas.openxmlformats.org/drawingml/2006/main" name="Shopping Trends">
  <a:themeElements>
    <a:clrScheme name="Shopping Trends">
      <a:dk1>
        <a:srgbClr val="1C1C1A"/>
      </a:dk1>
      <a:lt1>
        <a:srgbClr val="FFFFFF"/>
      </a:lt1>
      <a:dk2>
        <a:srgbClr val="1B2A4A"/>
      </a:dk2>
      <a:lt2>
        <a:srgbClr val="F3F2EE"/>
      </a:lt2>
      <a:accent1>
        <a:srgbClr val="2A78D6"/>
      </a:accent1>
      <a:accent2>
        <a:srgbClr val="EB6834"/>
      </a:accent2>
      <a:accent3>
        <a:srgbClr val="1BAF7A"/>
      </a:accent3>
      <a:accent4>
        <a:srgbClr val="EDA100"/>
      </a:accent4>
      <a:accent5>
        <a:srgbClr val="E87BA4"/>
      </a:accent5>
      <a:accent6>
        <a:srgbClr val="6250D6"/>
      </a:accent6>
      <a:hlink>
        <a:srgbClr val="2A78D6"/>
      </a:hlink>
      <a:folHlink>
        <a:srgbClr val="6250D6"/>
      </a:folHlink>
    </a:clrScheme>
    <a:fontScheme name="Shopping Trend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Segmentation – Shopping Trends</dc:title>
  <dc:subject>PptxGenJS Presentation</dc:subject>
  <dc:creator>Team 5</dc:creator>
  <cp:lastModifiedBy>Team 5</cp:lastModifiedBy>
  <cp:revision>1</cp:revision>
  <dcterms:created xsi:type="dcterms:W3CDTF">2026-10-19T15:49:55Z</dcterms:created>
  <dcterms:modified xsi:type="dcterms:W3CDTF">2026-10-19T15:49:55Z</dcterms:modified>
</cp:coreProperties>
</file>